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2" r:id="rId6"/>
    <p:sldId id="273" r:id="rId7"/>
    <p:sldId id="261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6" r:id="rId20"/>
    <p:sldId id="277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132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8603FDC-E32A-4AB5-989C-0864C3EAD2B8}" styleName="Style à thème 2 - Accentuation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Style à thème 2 - Accentuation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81"/>
    <p:restoredTop sz="94729"/>
  </p:normalViewPr>
  <p:slideViewPr>
    <p:cSldViewPr snapToGrid="0">
      <p:cViewPr varScale="1">
        <p:scale>
          <a:sx n="108" d="100"/>
          <a:sy n="108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F6CB4-A8B3-B145-B3E2-6187B23FF50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4FFE8-68E0-784C-9D84-2FBFAFB9AA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089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4FFE8-68E0-784C-9D84-2FBFAFB9AA4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954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2D156A-0C67-31B1-3023-5A7D83F52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581512-EE2A-BD65-785B-68A8CBD72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978413-194E-EDC7-0DC1-9DB03806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55FB29-737D-EFDD-B800-89457669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D07125-164B-0000-BC9E-7132410D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60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D4A10F-9C8A-9750-47DC-7D44CEF0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453D4D-FC9B-26D2-57D8-FD98144FF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F27A68-EA5A-CD21-B79C-1C7D060F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7193B6-162E-72C5-D7AF-3B2F1365A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5BD4FD-A490-C98E-738D-9ECC4EC4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500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07656D-797D-214C-5F24-FF890C08D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C474BA-F46D-8078-5446-C652022F9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42FFE4-2B89-AEFC-2FE2-AB8D5E09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EEF784-19D7-FBC8-B899-45C57ED5B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EF9994-66B2-0C60-5917-6633E8EE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18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EC8D84-A18A-76F4-7154-F6012C25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7909B6-27EF-9F22-D14F-AC532078D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F63075-74BD-AB89-0260-ED79E1CC1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59046D-DBED-0EDE-A48F-BBFECF8E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5D3D27-85E3-7BF3-FE93-A177A02A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9BCD96-35AC-FFF4-A336-643BE448C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1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17033B-5158-D3B5-6EDB-06636EA77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FEE979-43B7-0AC3-7190-A0EB9379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7073DF-28BF-C4F4-A983-B5BD3FB7D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1275FCD-3AE4-A471-5C15-B5A4FEBDA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8226F26-ED00-836E-D2A5-7B29E5B43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25B48A-B22A-6F2F-6513-25C75D55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752E548-20F5-6215-2A7D-9D04686C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6052F6-1F0D-2D10-ACBF-97B8270F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894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C14589-4A06-21D8-E985-F191737E1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D53A2FE-2592-7D2E-3EC5-32C22ED79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8E89F9-540C-D51C-EF3C-11CCCB78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3637E8-BF77-C41E-9E5D-E4BC7024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1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D824444-5B95-8156-AAD1-323E34781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49D248B-56D9-BFDE-218E-22DC4A88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46709F-C01A-F8C0-A728-A4453DD3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579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C00C35-4463-F430-32B4-AF291AB7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4B3610-C986-9202-B864-22C93C1D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88118B-D484-5AE5-76BC-C5023D136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13DA21-DDB0-FE11-FF83-7D7C76BB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829EB8-BEB5-C917-7C51-2C9BF06F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E243B8-D2A3-14BE-CEE6-3AEDBA3B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848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EEBF4-F259-7026-9E15-AC8B2203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6D164FC-C4D6-1309-ECB5-56DF45692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2DEED3-6436-ACA2-8F2A-FB4879F9C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E3BF2F-D3CC-E765-4BCF-96CC8D12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5241F5-BEEB-69B2-3B6D-EDF4D7D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D92DA7-6AC8-EC1F-73EB-726C4DC1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10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F33755-2E40-5F84-2651-D9F199170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CAF191A-87BD-D470-4CE5-22651651E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43D63E-1DA2-3936-60A9-8BF004172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F51268-DA47-F487-648D-D5EDDE58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518D05-3F8A-1A33-89B1-18606789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51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ADE43A3-C2DA-5DFA-8070-DF90B2AEE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55B3D3-2456-E77E-9D03-8DC09FF57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CF30BE-C4AE-13CF-411C-5DB961B90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C86379-5464-7DDC-309C-89BB4E6F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E7AC77-534B-67E1-A220-F59900A0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58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663C7A-CEDD-DA31-E54E-6B343B83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76F82D-559F-A62A-27ED-7D46C6E83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7CE3EA-24B7-ABC8-0FE7-09CB83CEB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585FF-3087-2543-BD00-770923480DA4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306B36-318B-E1DC-3E7C-3210C8BEF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A984CF-94DF-C1C9-4435-F43184803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FF92F-7A1C-424D-9125-4C68EF27B9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EE97AE-2F00-A857-AC9B-94721E2ED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Quand l’</a:t>
            </a:r>
            <a:r>
              <a:rPr lang="fr-FR" dirty="0" err="1">
                <a:solidFill>
                  <a:schemeClr val="bg1"/>
                </a:solidFill>
              </a:rPr>
              <a:t>Archelec</a:t>
            </a:r>
            <a:r>
              <a:rPr lang="fr-FR" dirty="0">
                <a:solidFill>
                  <a:schemeClr val="bg1"/>
                </a:solidFill>
              </a:rPr>
              <a:t> rencontre l’IA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765797-0BCC-D720-F0C8-B6854EFC3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17652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Génération automatique de métadonnées à partir de professions de foi électorales françaises de 2017 à 2024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FA6A5B3-B1AA-5909-8A8E-F3F4A3C1B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86" y="136635"/>
            <a:ext cx="3148168" cy="12494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B6B4B5-2AED-B78F-A9A6-94226C352BC7}"/>
              </a:ext>
            </a:extLst>
          </p:cNvPr>
          <p:cNvSpPr/>
          <p:nvPr/>
        </p:nvSpPr>
        <p:spPr>
          <a:xfrm>
            <a:off x="8854648" y="136635"/>
            <a:ext cx="3148168" cy="12494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Image 8" descr="Une image contenant Police, Graphique, graphisme, texte&#10;&#10;Le contenu généré par l’IA peut être incorrect.">
            <a:extLst>
              <a:ext uri="{FF2B5EF4-FFF2-40B4-BE49-F238E27FC236}">
                <a16:creationId xmlns:a16="http://schemas.microsoft.com/office/drawing/2014/main" id="{286DFDDC-52D8-E57B-E619-8A6F45F30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111" y="528719"/>
            <a:ext cx="3138703" cy="48979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A958667-DC76-4F22-0CCE-EF0EADE2558B}"/>
              </a:ext>
            </a:extLst>
          </p:cNvPr>
          <p:cNvSpPr txBox="1"/>
          <p:nvPr/>
        </p:nvSpPr>
        <p:spPr>
          <a:xfrm>
            <a:off x="1786514" y="5188748"/>
            <a:ext cx="9252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Projet 13 du </a:t>
            </a:r>
            <a:r>
              <a:rPr lang="fr-FR" dirty="0" err="1">
                <a:solidFill>
                  <a:schemeClr val="bg1"/>
                </a:solidFill>
              </a:rPr>
              <a:t>hackaton</a:t>
            </a:r>
            <a:r>
              <a:rPr lang="fr-FR" dirty="0">
                <a:solidFill>
                  <a:schemeClr val="bg1"/>
                </a:solidFill>
              </a:rPr>
              <a:t> organisé par l’École nationale des chartes la semaine du 5 janvier 2026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A7ADFA-85B5-587C-0B5D-29024BF9F661}"/>
              </a:ext>
            </a:extLst>
          </p:cNvPr>
          <p:cNvSpPr txBox="1"/>
          <p:nvPr/>
        </p:nvSpPr>
        <p:spPr>
          <a:xfrm>
            <a:off x="0" y="6459755"/>
            <a:ext cx="4055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Maria </a:t>
            </a:r>
            <a:r>
              <a:rPr lang="fr-FR" sz="1400" dirty="0" err="1">
                <a:solidFill>
                  <a:schemeClr val="bg1"/>
                </a:solidFill>
              </a:rPr>
              <a:t>Kirbasova</a:t>
            </a:r>
            <a:r>
              <a:rPr lang="fr-FR" sz="1400" dirty="0">
                <a:solidFill>
                  <a:schemeClr val="bg1"/>
                </a:solidFill>
              </a:rPr>
              <a:t>, Charles Planques, Manon Remot</a:t>
            </a:r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49046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711B05-869A-F6EE-2DCE-DB9C76FA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Objectif</a:t>
            </a:r>
            <a:endParaRPr lang="fr-FR" sz="5400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EFE678-3683-CB96-3A39-79AE8F32C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Constituer la chaîne de traitement pour analyser automatiquement un lot de professions de foi d’élections législatives de 2017 à 2024 afin de générer les métadonnées alignées sur les référentiels fournis. </a:t>
            </a:r>
          </a:p>
        </p:txBody>
      </p:sp>
    </p:spTree>
    <p:extLst>
      <p:ext uri="{BB962C8B-B14F-4D97-AF65-F5344CB8AC3E}">
        <p14:creationId xmlns:p14="http://schemas.microsoft.com/office/powerpoint/2010/main" val="1206894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56C4A-8EB0-FB46-6851-06011BA89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64B996-759F-B306-22A7-804AFDDFE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3159" y="1776981"/>
            <a:ext cx="3898699" cy="3304037"/>
          </a:xfrm>
        </p:spPr>
        <p:txBody>
          <a:bodyPr anchor="ctr"/>
          <a:lstStyle/>
          <a:p>
            <a:pPr marL="0" indent="0">
              <a:buNone/>
            </a:pPr>
            <a:endParaRPr lang="fr-FR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19 194 professions de foi au format PDF.</a:t>
            </a: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2A6E6B8-50FE-1062-21B8-544CDBA3F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421" y="322665"/>
            <a:ext cx="2195094" cy="310633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2048E85A-ACAD-4410-2108-8391C48DC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114" y="3428997"/>
            <a:ext cx="2212494" cy="3081709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28EC9070-03C7-DF08-A002-794BB3F7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114" y="347294"/>
            <a:ext cx="2195093" cy="3106334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8B3BE8B4-358B-FD01-6ABF-9FE21780D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121" y="3416681"/>
            <a:ext cx="2177693" cy="3081710"/>
          </a:xfrm>
          <a:prstGeom prst="rect">
            <a:avLst/>
          </a:prstGeom>
        </p:spPr>
      </p:pic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E4C1A9E-C59D-5D41-7051-4E3347FD1818}"/>
              </a:ext>
            </a:extLst>
          </p:cNvPr>
          <p:cNvSpPr/>
          <p:nvPr/>
        </p:nvSpPr>
        <p:spPr>
          <a:xfrm>
            <a:off x="10151165" y="2865780"/>
            <a:ext cx="1444487" cy="11264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Exemples de profession de foi</a:t>
            </a:r>
          </a:p>
        </p:txBody>
      </p:sp>
    </p:spTree>
    <p:extLst>
      <p:ext uri="{BB962C8B-B14F-4D97-AF65-F5344CB8AC3E}">
        <p14:creationId xmlns:p14="http://schemas.microsoft.com/office/powerpoint/2010/main" val="314301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A9D4F-202A-E701-6659-BD00C5E5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62BB58-7508-8214-04E4-9343B8C97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74435" y="5552660"/>
            <a:ext cx="3843130" cy="918646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fr-FR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Référentiel</a:t>
            </a: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2" name="Image 1" descr="Une image contenant text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9F6F06CF-2E71-811B-0E2A-DA2E21C6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26" y="715618"/>
            <a:ext cx="9212324" cy="44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6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CB598-0B22-B676-ED98-EA1D6313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624E4EB-DBC8-190A-FCE7-DAF73149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Travail préliminaire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E2DD96-3CBF-9907-7D57-AB6086230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Suppression des documents _</a:t>
            </a:r>
            <a:r>
              <a:rPr lang="fr-FR" dirty="0" err="1">
                <a:solidFill>
                  <a:schemeClr val="bg1"/>
                </a:solidFill>
              </a:rPr>
              <a:t>falc</a:t>
            </a:r>
            <a:r>
              <a:rPr lang="fr-FR" dirty="0">
                <a:solidFill>
                  <a:schemeClr val="bg1"/>
                </a:solidFill>
              </a:rPr>
              <a:t> de la base de données parce qu’ils constituaient des doublons. </a:t>
            </a:r>
          </a:p>
          <a:p>
            <a:r>
              <a:rPr lang="fr-FR" dirty="0">
                <a:solidFill>
                  <a:schemeClr val="bg1"/>
                </a:solidFill>
              </a:rPr>
              <a:t>La base des données a ainsi été réduite à 14 631 documents.</a:t>
            </a:r>
          </a:p>
        </p:txBody>
      </p:sp>
    </p:spTree>
    <p:extLst>
      <p:ext uri="{BB962C8B-B14F-4D97-AF65-F5344CB8AC3E}">
        <p14:creationId xmlns:p14="http://schemas.microsoft.com/office/powerpoint/2010/main" val="1628973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0021C-F66F-2338-AACA-E352AE63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1 – Extraction de textes à partir des </a:t>
            </a:r>
            <a:r>
              <a:rPr lang="fr-FR" dirty="0" err="1">
                <a:solidFill>
                  <a:schemeClr val="bg1"/>
                </a:solidFill>
              </a:rPr>
              <a:t>pdfs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E9F994-3666-1C94-9240-936917FA86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r>
              <a:rPr lang="fr-FR" sz="1800" dirty="0">
                <a:solidFill>
                  <a:schemeClr val="bg1"/>
                </a:solidFill>
              </a:rPr>
              <a:t>Récupération des textes des professions de foi avec deux méthodes : </a:t>
            </a:r>
          </a:p>
          <a:p>
            <a:pPr lvl="1">
              <a:buFont typeface="Wingdings" pitchFamily="2" charset="2"/>
              <a:buChar char="Ø"/>
            </a:pPr>
            <a:r>
              <a:rPr lang="fr-FR" sz="1800" dirty="0">
                <a:solidFill>
                  <a:schemeClr val="bg1"/>
                </a:solidFill>
              </a:rPr>
              <a:t>PyMuPDF (fitz)</a:t>
            </a:r>
          </a:p>
          <a:p>
            <a:pPr lvl="1">
              <a:buFont typeface="Wingdings" pitchFamily="2" charset="2"/>
              <a:buChar char="Ø"/>
            </a:pPr>
            <a:r>
              <a:rPr lang="fr-FR" sz="1800" dirty="0">
                <a:solidFill>
                  <a:schemeClr val="bg1"/>
                </a:solidFill>
              </a:rPr>
              <a:t>Mistral OCR</a:t>
            </a:r>
          </a:p>
          <a:p>
            <a:pPr lvl="1">
              <a:buFont typeface="Wingdings" pitchFamily="2" charset="2"/>
              <a:buChar char="Ø"/>
            </a:pP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dirty="0">
                <a:solidFill>
                  <a:schemeClr val="bg1"/>
                </a:solidFill>
              </a:rPr>
              <a:t>Dans l’exemple à côté, ce qui est encadré en noir est le contenu à extraire. 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3178F2DA-13B6-7ECD-0975-DC9EEE2E69B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707086" y="2050956"/>
            <a:ext cx="3309533" cy="4592823"/>
          </a:xfrm>
        </p:spPr>
      </p:pic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2C6AEF37-BF50-125A-B7BA-C9155C0EC8CC}"/>
              </a:ext>
            </a:extLst>
          </p:cNvPr>
          <p:cNvCxnSpPr>
            <a:cxnSpLocks/>
          </p:cNvCxnSpPr>
          <p:nvPr/>
        </p:nvCxnSpPr>
        <p:spPr>
          <a:xfrm>
            <a:off x="8629650" y="3663950"/>
            <a:ext cx="16414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D4285195-18E7-A64D-4435-D2CE625B1925}"/>
              </a:ext>
            </a:extLst>
          </p:cNvPr>
          <p:cNvCxnSpPr>
            <a:cxnSpLocks/>
          </p:cNvCxnSpPr>
          <p:nvPr/>
        </p:nvCxnSpPr>
        <p:spPr>
          <a:xfrm flipV="1">
            <a:off x="8629650" y="3663950"/>
            <a:ext cx="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6173AB9-BA2C-627B-E608-580D4957A1D9}"/>
              </a:ext>
            </a:extLst>
          </p:cNvPr>
          <p:cNvCxnSpPr/>
          <p:nvPr/>
        </p:nvCxnSpPr>
        <p:spPr>
          <a:xfrm flipH="1">
            <a:off x="8547100" y="3892550"/>
            <a:ext cx="825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546C67CB-18A1-779C-A540-950D05FE27AF}"/>
              </a:ext>
            </a:extLst>
          </p:cNvPr>
          <p:cNvCxnSpPr/>
          <p:nvPr/>
        </p:nvCxnSpPr>
        <p:spPr>
          <a:xfrm flipV="1">
            <a:off x="8547100" y="3892550"/>
            <a:ext cx="0" cy="2254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7237D7CC-B268-C66D-18DD-15DAEC47CA26}"/>
              </a:ext>
            </a:extLst>
          </p:cNvPr>
          <p:cNvCxnSpPr/>
          <p:nvPr/>
        </p:nvCxnSpPr>
        <p:spPr>
          <a:xfrm>
            <a:off x="8547100" y="4121150"/>
            <a:ext cx="1333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32906CC8-D350-A8B6-D4E6-CCDE42266A79}"/>
              </a:ext>
            </a:extLst>
          </p:cNvPr>
          <p:cNvCxnSpPr>
            <a:cxnSpLocks/>
          </p:cNvCxnSpPr>
          <p:nvPr/>
        </p:nvCxnSpPr>
        <p:spPr>
          <a:xfrm flipV="1">
            <a:off x="8680450" y="4117975"/>
            <a:ext cx="0" cy="2444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74FEA1B0-562F-3305-B158-AE16F11B0576}"/>
              </a:ext>
            </a:extLst>
          </p:cNvPr>
          <p:cNvCxnSpPr>
            <a:cxnSpLocks/>
          </p:cNvCxnSpPr>
          <p:nvPr/>
        </p:nvCxnSpPr>
        <p:spPr>
          <a:xfrm flipH="1">
            <a:off x="8680450" y="4333875"/>
            <a:ext cx="14890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94D9BF90-1EB7-13EB-5448-DAB437FB8630}"/>
              </a:ext>
            </a:extLst>
          </p:cNvPr>
          <p:cNvCxnSpPr>
            <a:cxnSpLocks/>
          </p:cNvCxnSpPr>
          <p:nvPr/>
        </p:nvCxnSpPr>
        <p:spPr>
          <a:xfrm>
            <a:off x="10140950" y="4095750"/>
            <a:ext cx="0" cy="2381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470E1B85-B474-43CC-556F-3A155F0C8D97}"/>
              </a:ext>
            </a:extLst>
          </p:cNvPr>
          <p:cNvCxnSpPr>
            <a:cxnSpLocks/>
          </p:cNvCxnSpPr>
          <p:nvPr/>
        </p:nvCxnSpPr>
        <p:spPr>
          <a:xfrm>
            <a:off x="9559925" y="3892550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6BE0C1DF-0377-7F4C-10AF-E54472072AF8}"/>
              </a:ext>
            </a:extLst>
          </p:cNvPr>
          <p:cNvCxnSpPr>
            <a:cxnSpLocks/>
          </p:cNvCxnSpPr>
          <p:nvPr/>
        </p:nvCxnSpPr>
        <p:spPr>
          <a:xfrm flipV="1">
            <a:off x="10255250" y="3641725"/>
            <a:ext cx="0" cy="2508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034C705A-474F-5ECB-72BD-C3DB47B02484}"/>
              </a:ext>
            </a:extLst>
          </p:cNvPr>
          <p:cNvCxnSpPr/>
          <p:nvPr/>
        </p:nvCxnSpPr>
        <p:spPr>
          <a:xfrm>
            <a:off x="9559925" y="4117975"/>
            <a:ext cx="5810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AAF79A9E-F504-CE6A-7984-F351A7BE4E84}"/>
              </a:ext>
            </a:extLst>
          </p:cNvPr>
          <p:cNvCxnSpPr>
            <a:cxnSpLocks/>
          </p:cNvCxnSpPr>
          <p:nvPr/>
        </p:nvCxnSpPr>
        <p:spPr>
          <a:xfrm>
            <a:off x="9559925" y="3892550"/>
            <a:ext cx="0" cy="2254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CBCB560-0742-25DC-128C-F4970DAB401C}"/>
              </a:ext>
            </a:extLst>
          </p:cNvPr>
          <p:cNvSpPr/>
          <p:nvPr/>
        </p:nvSpPr>
        <p:spPr>
          <a:xfrm>
            <a:off x="7789635" y="4505388"/>
            <a:ext cx="3144433" cy="20649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B916E3D-E05F-E8F6-3191-F7EDD1D3785F}"/>
              </a:ext>
            </a:extLst>
          </p:cNvPr>
          <p:cNvSpPr/>
          <p:nvPr/>
        </p:nvSpPr>
        <p:spPr>
          <a:xfrm>
            <a:off x="7789635" y="2095248"/>
            <a:ext cx="3144433" cy="6116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652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D8379-E9A2-F5EC-243E-D6586B66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ABFAA39-D61C-5A85-9071-D4775DC6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1 – Extraction de textes à partir des </a:t>
            </a:r>
            <a:r>
              <a:rPr lang="fr-FR" dirty="0" err="1">
                <a:solidFill>
                  <a:schemeClr val="bg1"/>
                </a:solidFill>
              </a:rPr>
              <a:t>pdfs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A6E5C9A-3366-A505-6416-9627933A3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4" y="5167311"/>
            <a:ext cx="5157787" cy="823912"/>
          </a:xfrm>
        </p:spPr>
        <p:txBody>
          <a:bodyPr anchor="ctr">
            <a:normAutofit lnSpcReduction="10000"/>
          </a:bodyPr>
          <a:lstStyle/>
          <a:p>
            <a:pPr algn="ctr"/>
            <a:r>
              <a:rPr lang="fr-FR" sz="2800" b="0" dirty="0">
                <a:solidFill>
                  <a:schemeClr val="bg1"/>
                </a:solidFill>
              </a:rPr>
              <a:t>Méthode 1 – Bibliothèque PyMuPDF (fitz)</a:t>
            </a:r>
          </a:p>
        </p:txBody>
      </p:sp>
      <p:pic>
        <p:nvPicPr>
          <p:cNvPr id="11" name="Image 10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A65641DD-F84C-7704-29C6-843781AD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68" y="2507447"/>
            <a:ext cx="10684664" cy="1843106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222428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B49A9-FA66-B885-33F8-ABA5B9800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4D36E8C-5894-D08A-2473-4D1A6B1C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1 – Extraction de textes à partir des </a:t>
            </a:r>
            <a:r>
              <a:rPr lang="fr-FR" dirty="0" err="1">
                <a:solidFill>
                  <a:schemeClr val="bg1"/>
                </a:solidFill>
              </a:rPr>
              <a:t>pdfs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DE97AE4-44E8-725E-4C58-CABD27294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2" y="4755354"/>
            <a:ext cx="5157787" cy="823912"/>
          </a:xfrm>
        </p:spPr>
        <p:txBody>
          <a:bodyPr anchor="ctr">
            <a:normAutofit/>
          </a:bodyPr>
          <a:lstStyle/>
          <a:p>
            <a:pPr algn="ctr"/>
            <a:r>
              <a:rPr lang="fr-FR" sz="2800" b="0" dirty="0">
                <a:solidFill>
                  <a:schemeClr val="bg1"/>
                </a:solidFill>
              </a:rPr>
              <a:t>Méthode 2 – Mistral OCR</a:t>
            </a:r>
          </a:p>
        </p:txBody>
      </p:sp>
      <p:pic>
        <p:nvPicPr>
          <p:cNvPr id="2" name="Image 1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5F96FDD-A947-3F42-8712-4AA1D6ED9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06" y="2562525"/>
            <a:ext cx="11552981" cy="1732948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234697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A5267-9441-7FB6-CE10-11166C15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5818595-B852-ACD2-26B2-0A1B657A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2 – Prédiction et classification des informations par appel à un LLM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3DFF54C-80EF-609B-9206-40D4D768CD75}"/>
              </a:ext>
            </a:extLst>
          </p:cNvPr>
          <p:cNvSpPr/>
          <p:nvPr/>
        </p:nvSpPr>
        <p:spPr>
          <a:xfrm>
            <a:off x="4407811" y="5167311"/>
            <a:ext cx="3929270" cy="8049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Extrait du référentiel utilisé pour écrire le prompt</a:t>
            </a:r>
          </a:p>
        </p:txBody>
      </p:sp>
      <p:pic>
        <p:nvPicPr>
          <p:cNvPr id="8" name="Image 7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88FF8F6-7EC4-5D01-DCD7-736FCC73F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166" y="2210768"/>
            <a:ext cx="8847667" cy="24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85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2149D-DC5C-C3D1-02C4-D05B38BE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7B04AAA-FCAB-15F7-2950-31075A621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316"/>
            <a:ext cx="10515600" cy="1325563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2 – Prédiction et classification des informations par appel à un LLM</a:t>
            </a:r>
          </a:p>
        </p:txBody>
      </p:sp>
      <p:pic>
        <p:nvPicPr>
          <p:cNvPr id="6" name="Image 5" descr="Une image contenant texte, capture d’écran, Police, menu&#10;&#10;Le contenu généré par l’IA peut être incorrect.">
            <a:extLst>
              <a:ext uri="{FF2B5EF4-FFF2-40B4-BE49-F238E27FC236}">
                <a16:creationId xmlns:a16="http://schemas.microsoft.com/office/drawing/2014/main" id="{1556E35E-7B69-6CD4-66EF-A2CE52D68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3"/>
          <a:stretch>
            <a:fillRect/>
          </a:stretch>
        </p:blipFill>
        <p:spPr>
          <a:xfrm>
            <a:off x="2684804" y="1732314"/>
            <a:ext cx="6822383" cy="3923358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4F15357-2A6E-1E6F-7E1C-3C209E8A9935}"/>
              </a:ext>
            </a:extLst>
          </p:cNvPr>
          <p:cNvSpPr/>
          <p:nvPr/>
        </p:nvSpPr>
        <p:spPr>
          <a:xfrm>
            <a:off x="4254214" y="5878107"/>
            <a:ext cx="3683565" cy="5958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Prompt final</a:t>
            </a:r>
          </a:p>
        </p:txBody>
      </p:sp>
    </p:spTree>
    <p:extLst>
      <p:ext uri="{BB962C8B-B14F-4D97-AF65-F5344CB8AC3E}">
        <p14:creationId xmlns:p14="http://schemas.microsoft.com/office/powerpoint/2010/main" val="161829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348E0-89AD-93E5-836E-C841D82C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CD21F0E-2E19-35BB-60BD-E74BDCCD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2.2 – Test du prompt</a:t>
            </a:r>
          </a:p>
        </p:txBody>
      </p:sp>
      <p:pic>
        <p:nvPicPr>
          <p:cNvPr id="8" name="Image 7" descr="Une image contenant texte, capture d’écran, reçu&#10;&#10;Le contenu généré par l’IA peut être incorrect.">
            <a:extLst>
              <a:ext uri="{FF2B5EF4-FFF2-40B4-BE49-F238E27FC236}">
                <a16:creationId xmlns:a16="http://schemas.microsoft.com/office/drawing/2014/main" id="{AF70ADBE-26CC-EAC4-ECA8-2BC1682FC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3798100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2B0CA33-25DE-17F6-D20B-2D1C7B957C9E}"/>
              </a:ext>
            </a:extLst>
          </p:cNvPr>
          <p:cNvSpPr/>
          <p:nvPr/>
        </p:nvSpPr>
        <p:spPr>
          <a:xfrm>
            <a:off x="4387124" y="5928848"/>
            <a:ext cx="3417751" cy="5640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Extrait du fichier-échantillon</a:t>
            </a:r>
          </a:p>
        </p:txBody>
      </p:sp>
    </p:spTree>
    <p:extLst>
      <p:ext uri="{BB962C8B-B14F-4D97-AF65-F5344CB8AC3E}">
        <p14:creationId xmlns:p14="http://schemas.microsoft.com/office/powerpoint/2010/main" val="9084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1B519-5F04-60A5-7692-D478A347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DE391B2-50D1-1D6F-3664-506381AE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2.2 – Test du prompt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2F67CA6-B818-BCE8-B91F-DAF8A9D1935B}"/>
              </a:ext>
            </a:extLst>
          </p:cNvPr>
          <p:cNvSpPr/>
          <p:nvPr/>
        </p:nvSpPr>
        <p:spPr>
          <a:xfrm>
            <a:off x="1762768" y="5156806"/>
            <a:ext cx="3303104" cy="6115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Extrait du fichier obtenu avec erreurs annotées en rouge</a:t>
            </a:r>
          </a:p>
        </p:txBody>
      </p:sp>
      <p:pic>
        <p:nvPicPr>
          <p:cNvPr id="10" name="Image 9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1382263-773A-5CCC-EE12-F55B27726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4" y="2086326"/>
            <a:ext cx="5975073" cy="2265430"/>
          </a:xfrm>
          <a:prstGeom prst="rect">
            <a:avLst/>
          </a:prstGeom>
        </p:spPr>
      </p:pic>
      <p:pic>
        <p:nvPicPr>
          <p:cNvPr id="12" name="Image 1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7A43EA9-FDD0-99A5-F4C1-0FC1D1053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2" y="2086326"/>
            <a:ext cx="4807824" cy="2265430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791E65AE-29B4-4664-A60A-22E85A6853C5}"/>
              </a:ext>
            </a:extLst>
          </p:cNvPr>
          <p:cNvSpPr/>
          <p:nvPr/>
        </p:nvSpPr>
        <p:spPr>
          <a:xfrm>
            <a:off x="7709752" y="5156806"/>
            <a:ext cx="3303104" cy="6115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ysClr val="windowText" lastClr="000000"/>
              </a:solidFill>
            </a:endParaRP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Extrait du fichier obtenu avec erreurs corrigées en vert</a:t>
            </a:r>
          </a:p>
          <a:p>
            <a:pPr algn="ctr"/>
            <a:endParaRPr lang="fr-FR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0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F372A-EFA3-4D9B-407D-097431D6D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DD4A04A-4904-F60C-ACC4-A9BE12DC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2.2 – Test du prompt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19ACF49-4087-FEB6-1F16-82B4FB3FC41A}"/>
              </a:ext>
            </a:extLst>
          </p:cNvPr>
          <p:cNvSpPr/>
          <p:nvPr/>
        </p:nvSpPr>
        <p:spPr>
          <a:xfrm>
            <a:off x="4444448" y="5170976"/>
            <a:ext cx="3303104" cy="6115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Modèles utilisés</a:t>
            </a:r>
          </a:p>
        </p:txBody>
      </p:sp>
      <p:pic>
        <p:nvPicPr>
          <p:cNvPr id="2" name="Image 1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C80242E5-40BE-FC8B-C30E-F9F25E653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23" y="2360713"/>
            <a:ext cx="5562600" cy="876300"/>
          </a:xfrm>
          <a:prstGeom prst="rect">
            <a:avLst/>
          </a:prstGeom>
        </p:spPr>
      </p:pic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4E7A2D0-5E5F-273E-6CD5-3096682B4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623" y="3620988"/>
            <a:ext cx="56388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31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2FF41-BEE2-F23B-20D9-1FE1E231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408985A-C787-67D8-CB65-A2F911BA7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3 – Test final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6BEA79E-692B-A65C-45D1-E36A25E46157}"/>
              </a:ext>
            </a:extLst>
          </p:cNvPr>
          <p:cNvSpPr/>
          <p:nvPr/>
        </p:nvSpPr>
        <p:spPr>
          <a:xfrm>
            <a:off x="4444448" y="5881322"/>
            <a:ext cx="3303104" cy="6115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Division des données en </a:t>
            </a:r>
            <a:r>
              <a:rPr lang="fr-FR" dirty="0" err="1">
                <a:solidFill>
                  <a:sysClr val="windowText" lastClr="000000"/>
                </a:solidFill>
              </a:rPr>
              <a:t>batchs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pic>
        <p:nvPicPr>
          <p:cNvPr id="6" name="Image 5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168556B0-C1D9-5A41-7EEC-B5C447779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401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81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3AA22-2193-9A82-A6A6-493E6FBC1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39DE910-0B96-956B-99C7-178B5959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3 – Test final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CD347BB-EA12-5098-7546-87041D5B3693}"/>
              </a:ext>
            </a:extLst>
          </p:cNvPr>
          <p:cNvSpPr/>
          <p:nvPr/>
        </p:nvSpPr>
        <p:spPr>
          <a:xfrm>
            <a:off x="4192657" y="5510261"/>
            <a:ext cx="3303104" cy="6115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Modèles utilisés 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6F9BDEA-363A-EFE1-E2D0-BD39DAE38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458129"/>
              </p:ext>
            </p:extLst>
          </p:nvPr>
        </p:nvGraphicFramePr>
        <p:xfrm>
          <a:off x="2032000" y="2592496"/>
          <a:ext cx="8128000" cy="167300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400796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71723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 Chez Mistral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Chez </a:t>
                      </a:r>
                      <a:r>
                        <a:rPr lang="fr-FR" dirty="0" err="1"/>
                        <a:t>OpenAI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75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Mistral Large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ChatGPT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08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Mistral Small 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GPT-5-nano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480254"/>
                  </a:ext>
                </a:extLst>
              </a:tr>
              <a:tr h="560487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Ministral</a:t>
                      </a:r>
                      <a:r>
                        <a:rPr lang="fr-FR" dirty="0"/>
                        <a:t> 3 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522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410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68961-334F-C67C-DE60-B00EA846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4BF61A7-44F5-A973-15F6-2161220A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4 – Évaluation des résultats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29DCDFA-41A4-CA63-F851-4E4CC69B0782}"/>
              </a:ext>
            </a:extLst>
          </p:cNvPr>
          <p:cNvSpPr/>
          <p:nvPr/>
        </p:nvSpPr>
        <p:spPr>
          <a:xfrm>
            <a:off x="4444448" y="5881321"/>
            <a:ext cx="3303104" cy="6115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Résultats </a:t>
            </a:r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84283D46-0786-BC8D-46E0-923BC25B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0688"/>
            <a:ext cx="7772400" cy="353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24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E7391-DAC8-210C-C313-2EB99917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B4E60C7-B918-B1D7-9310-7C44484F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4 – Évaluation des résultats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DB5A9094-F74A-CFDE-6040-45312222016E}"/>
              </a:ext>
            </a:extLst>
          </p:cNvPr>
          <p:cNvSpPr/>
          <p:nvPr/>
        </p:nvSpPr>
        <p:spPr>
          <a:xfrm>
            <a:off x="4444448" y="5167312"/>
            <a:ext cx="3303104" cy="6115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Résultats </a:t>
            </a:r>
          </a:p>
        </p:txBody>
      </p: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E6CEA01-B488-B839-FBBE-0B40701A9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951" y="2187089"/>
            <a:ext cx="4068098" cy="248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51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116CB-0D9E-3E18-EC55-83BA55EC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9905B9A-B9F2-5A20-1F90-05F9DEE6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4 – Évaluation des résultats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DC577AB6-DBA2-71F4-B030-34FE120DAA35}"/>
              </a:ext>
            </a:extLst>
          </p:cNvPr>
          <p:cNvSpPr/>
          <p:nvPr/>
        </p:nvSpPr>
        <p:spPr>
          <a:xfrm>
            <a:off x="4444448" y="5167312"/>
            <a:ext cx="3303104" cy="6115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Résultats </a:t>
            </a:r>
          </a:p>
        </p:txBody>
      </p: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130EC09-EAB8-B7DC-E34E-5C32DC443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951" y="2187089"/>
            <a:ext cx="4068098" cy="248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503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8005B-6EBB-7FFD-5B33-E1936155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088F38F-D29D-C4E1-B4EB-BBD506ED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Partie 4.1 – La question du format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DAA93C17-A102-4D58-70D5-388765E23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62613"/>
              </p:ext>
            </p:extLst>
          </p:nvPr>
        </p:nvGraphicFramePr>
        <p:xfrm>
          <a:off x="2844799" y="1785691"/>
          <a:ext cx="6502400" cy="29160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573293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5488350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915328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40754208"/>
                    </a:ext>
                  </a:extLst>
                </a:gridCol>
              </a:tblGrid>
              <a:tr h="699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Modèle</a:t>
                      </a:r>
                    </a:p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Respect du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Réponse réutilisable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Stabilité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02087"/>
                  </a:ext>
                </a:extLst>
              </a:tr>
              <a:tr h="9997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Mistral Large 3</a:t>
                      </a:r>
                    </a:p>
                    <a:p>
                      <a:pPr algn="ctr"/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843852"/>
                  </a:ext>
                </a:extLst>
              </a:tr>
              <a:tr h="405468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Mistral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NR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977422"/>
                  </a:ext>
                </a:extLst>
              </a:tr>
              <a:tr h="4054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 err="1">
                          <a:solidFill>
                            <a:schemeClr val="tx1"/>
                          </a:solidFill>
                        </a:rPr>
                        <a:t>Ministral</a:t>
                      </a:r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 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98550"/>
                  </a:ext>
                </a:extLst>
              </a:tr>
              <a:tr h="405468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22264"/>
                  </a:ext>
                </a:extLst>
              </a:tr>
            </a:tbl>
          </a:graphicData>
        </a:graphic>
      </p:graphicFrame>
      <p:sp>
        <p:nvSpPr>
          <p:cNvPr id="8" name="Multiplication 7">
            <a:extLst>
              <a:ext uri="{FF2B5EF4-FFF2-40B4-BE49-F238E27FC236}">
                <a16:creationId xmlns:a16="http://schemas.microsoft.com/office/drawing/2014/main" id="{A93E623E-CDA9-89C2-CC63-18B4C39F6615}"/>
              </a:ext>
            </a:extLst>
          </p:cNvPr>
          <p:cNvSpPr>
            <a:spLocks/>
          </p:cNvSpPr>
          <p:nvPr/>
        </p:nvSpPr>
        <p:spPr>
          <a:xfrm>
            <a:off x="5107166" y="2745503"/>
            <a:ext cx="254643" cy="342900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9" name="Multiplication 8">
            <a:extLst>
              <a:ext uri="{FF2B5EF4-FFF2-40B4-BE49-F238E27FC236}">
                <a16:creationId xmlns:a16="http://schemas.microsoft.com/office/drawing/2014/main" id="{27333239-AA59-BD2D-4E50-681BF2BEFB5E}"/>
              </a:ext>
            </a:extLst>
          </p:cNvPr>
          <p:cNvSpPr>
            <a:spLocks/>
          </p:cNvSpPr>
          <p:nvPr/>
        </p:nvSpPr>
        <p:spPr>
          <a:xfrm>
            <a:off x="5078835" y="3920925"/>
            <a:ext cx="254643" cy="342900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10" name="Multiplication 9">
            <a:extLst>
              <a:ext uri="{FF2B5EF4-FFF2-40B4-BE49-F238E27FC236}">
                <a16:creationId xmlns:a16="http://schemas.microsoft.com/office/drawing/2014/main" id="{451B7258-7B3C-1522-1745-B98F9B5DE6DF}"/>
              </a:ext>
            </a:extLst>
          </p:cNvPr>
          <p:cNvSpPr>
            <a:spLocks/>
          </p:cNvSpPr>
          <p:nvPr/>
        </p:nvSpPr>
        <p:spPr>
          <a:xfrm>
            <a:off x="5072500" y="3495730"/>
            <a:ext cx="294073" cy="330192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14" name="Multiplication 13">
            <a:extLst>
              <a:ext uri="{FF2B5EF4-FFF2-40B4-BE49-F238E27FC236}">
                <a16:creationId xmlns:a16="http://schemas.microsoft.com/office/drawing/2014/main" id="{A581E265-B0AD-DCDB-A06D-A42E30D90FB1}"/>
              </a:ext>
            </a:extLst>
          </p:cNvPr>
          <p:cNvSpPr>
            <a:spLocks/>
          </p:cNvSpPr>
          <p:nvPr/>
        </p:nvSpPr>
        <p:spPr>
          <a:xfrm>
            <a:off x="5107166" y="4371536"/>
            <a:ext cx="254643" cy="342900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pic>
        <p:nvPicPr>
          <p:cNvPr id="18" name="Graphique 17" descr="Coche avec un remplissage uni">
            <a:extLst>
              <a:ext uri="{FF2B5EF4-FFF2-40B4-BE49-F238E27FC236}">
                <a16:creationId xmlns:a16="http://schemas.microsoft.com/office/drawing/2014/main" id="{94C41BAE-F153-38BB-1190-BCB30588E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1858" y="2699194"/>
            <a:ext cx="376501" cy="376501"/>
          </a:xfrm>
          <a:prstGeom prst="rect">
            <a:avLst/>
          </a:prstGeom>
        </p:spPr>
      </p:pic>
      <p:pic>
        <p:nvPicPr>
          <p:cNvPr id="19" name="Graphique 18" descr="Coche avec un remplissage uni">
            <a:extLst>
              <a:ext uri="{FF2B5EF4-FFF2-40B4-BE49-F238E27FC236}">
                <a16:creationId xmlns:a16="http://schemas.microsoft.com/office/drawing/2014/main" id="{6AC09112-8E25-EBF5-745B-1ACE7DDA2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7084" y="2638213"/>
            <a:ext cx="376501" cy="376501"/>
          </a:xfrm>
          <a:prstGeom prst="rect">
            <a:avLst/>
          </a:prstGeom>
        </p:spPr>
      </p:pic>
      <p:pic>
        <p:nvPicPr>
          <p:cNvPr id="21" name="Graphique 20" descr="Coche avec un remplissage uni">
            <a:extLst>
              <a:ext uri="{FF2B5EF4-FFF2-40B4-BE49-F238E27FC236}">
                <a16:creationId xmlns:a16="http://schemas.microsoft.com/office/drawing/2014/main" id="{F429B758-ED76-EC59-5878-6124E44DA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8198" y="3470313"/>
            <a:ext cx="376501" cy="376501"/>
          </a:xfrm>
          <a:prstGeom prst="rect">
            <a:avLst/>
          </a:prstGeom>
        </p:spPr>
      </p:pic>
      <p:pic>
        <p:nvPicPr>
          <p:cNvPr id="23" name="Graphique 22" descr="Coche avec un remplissage uni">
            <a:extLst>
              <a:ext uri="{FF2B5EF4-FFF2-40B4-BE49-F238E27FC236}">
                <a16:creationId xmlns:a16="http://schemas.microsoft.com/office/drawing/2014/main" id="{B86E68D3-3187-ACF4-D21E-E81D6D837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033" y="3897769"/>
            <a:ext cx="376501" cy="376501"/>
          </a:xfrm>
          <a:prstGeom prst="rect">
            <a:avLst/>
          </a:prstGeom>
        </p:spPr>
      </p:pic>
      <p:sp>
        <p:nvSpPr>
          <p:cNvPr id="25" name="Multiplication 24">
            <a:extLst>
              <a:ext uri="{FF2B5EF4-FFF2-40B4-BE49-F238E27FC236}">
                <a16:creationId xmlns:a16="http://schemas.microsoft.com/office/drawing/2014/main" id="{9DAC62DF-BAFE-D987-F99C-F404216DF8CD}"/>
              </a:ext>
            </a:extLst>
          </p:cNvPr>
          <p:cNvSpPr>
            <a:spLocks/>
          </p:cNvSpPr>
          <p:nvPr/>
        </p:nvSpPr>
        <p:spPr>
          <a:xfrm>
            <a:off x="8422933" y="3913766"/>
            <a:ext cx="254643" cy="342900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27" name="Multiplication 26">
            <a:extLst>
              <a:ext uri="{FF2B5EF4-FFF2-40B4-BE49-F238E27FC236}">
                <a16:creationId xmlns:a16="http://schemas.microsoft.com/office/drawing/2014/main" id="{7353674F-199A-AF3D-31FE-A214DB77D934}"/>
              </a:ext>
            </a:extLst>
          </p:cNvPr>
          <p:cNvSpPr>
            <a:spLocks/>
          </p:cNvSpPr>
          <p:nvPr/>
        </p:nvSpPr>
        <p:spPr>
          <a:xfrm>
            <a:off x="6802961" y="4356436"/>
            <a:ext cx="254643" cy="342900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sp>
        <p:nvSpPr>
          <p:cNvPr id="28" name="Multiplication 27">
            <a:extLst>
              <a:ext uri="{FF2B5EF4-FFF2-40B4-BE49-F238E27FC236}">
                <a16:creationId xmlns:a16="http://schemas.microsoft.com/office/drawing/2014/main" id="{3EDA844E-DD10-726B-9B5E-CCEAC2FC9BED}"/>
              </a:ext>
            </a:extLst>
          </p:cNvPr>
          <p:cNvSpPr>
            <a:spLocks/>
          </p:cNvSpPr>
          <p:nvPr/>
        </p:nvSpPr>
        <p:spPr>
          <a:xfrm>
            <a:off x="8422933" y="4365182"/>
            <a:ext cx="254643" cy="342900"/>
          </a:xfrm>
          <a:prstGeom prst="mathMultiply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6257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13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29611-1BD3-7DE7-7B97-67FFF9241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378194-BBA4-1FCB-B3C5-548D5805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F3D6A68-315E-3B68-6E83-872621A2E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fr-FR" dirty="0">
                <a:solidFill>
                  <a:schemeClr val="bg1"/>
                </a:solidFill>
              </a:rPr>
              <a:t>Modèle le plus fiable : Mistral Small</a:t>
            </a:r>
          </a:p>
          <a:p>
            <a:r>
              <a:rPr lang="fr-FR" dirty="0">
                <a:solidFill>
                  <a:schemeClr val="bg1"/>
                </a:solidFill>
              </a:rPr>
              <a:t>Écarter ChatGPT : pas le bon outil</a:t>
            </a:r>
          </a:p>
          <a:p>
            <a:r>
              <a:rPr lang="fr-FR" dirty="0">
                <a:solidFill>
                  <a:schemeClr val="bg1"/>
                </a:solidFill>
              </a:rPr>
              <a:t>Solutions possibles pour la mise à l’échelle</a:t>
            </a:r>
          </a:p>
          <a:p>
            <a:pPr lvl="1">
              <a:buFont typeface="Wingdings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Batch par batch </a:t>
            </a:r>
            <a:r>
              <a:rPr lang="fr-FR" dirty="0">
                <a:solidFill>
                  <a:schemeClr val="bg1"/>
                </a:solidFill>
                <a:sym typeface="Wingdings" pitchFamily="2" charset="2"/>
              </a:rPr>
              <a:t> Plus long mais processus testé</a:t>
            </a:r>
          </a:p>
          <a:p>
            <a:pPr lvl="1">
              <a:buFont typeface="Wingdings" pitchFamily="2" charset="2"/>
              <a:buChar char="Ø"/>
            </a:pPr>
            <a:r>
              <a:rPr lang="fr-FR" dirty="0">
                <a:solidFill>
                  <a:schemeClr val="bg1"/>
                </a:solidFill>
                <a:sym typeface="Wingdings" pitchFamily="2" charset="2"/>
              </a:rPr>
              <a:t>Plusieurs </a:t>
            </a:r>
            <a:r>
              <a:rPr lang="fr-FR" dirty="0" err="1">
                <a:solidFill>
                  <a:schemeClr val="bg1"/>
                </a:solidFill>
                <a:sym typeface="Wingdings" pitchFamily="2" charset="2"/>
              </a:rPr>
              <a:t>batchs</a:t>
            </a:r>
            <a:r>
              <a:rPr lang="fr-FR" dirty="0">
                <a:solidFill>
                  <a:schemeClr val="bg1"/>
                </a:solidFill>
                <a:sym typeface="Wingdings" pitchFamily="2" charset="2"/>
              </a:rPr>
              <a:t> en même temps  Plus rapide en théorie </a:t>
            </a:r>
            <a:r>
              <a:rPr lang="fr-FR" b="1" dirty="0">
                <a:solidFill>
                  <a:schemeClr val="bg1"/>
                </a:solidFill>
                <a:sym typeface="Wingdings" pitchFamily="2" charset="2"/>
              </a:rPr>
              <a:t>MAIS</a:t>
            </a:r>
            <a:r>
              <a:rPr lang="fr-FR" dirty="0">
                <a:solidFill>
                  <a:schemeClr val="bg1"/>
                </a:solidFill>
                <a:sym typeface="Wingdings" pitchFamily="2" charset="2"/>
              </a:rPr>
              <a:t> modification des codes requise 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3901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407</Words>
  <Application>Microsoft Macintosh PowerPoint</Application>
  <PresentationFormat>Grand écran</PresentationFormat>
  <Paragraphs>78</Paragraphs>
  <Slides>20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Thème Office</vt:lpstr>
      <vt:lpstr>Quand l’Archelec rencontre l’IA</vt:lpstr>
      <vt:lpstr>Objectif</vt:lpstr>
      <vt:lpstr>Présentation PowerPoint</vt:lpstr>
      <vt:lpstr>Présentation PowerPoint</vt:lpstr>
      <vt:lpstr>Travail préliminaire</vt:lpstr>
      <vt:lpstr>Partie 1 – Extraction de textes à partir des pdfs</vt:lpstr>
      <vt:lpstr>Partie 1 – Extraction de textes à partir des pdfs</vt:lpstr>
      <vt:lpstr>Partie 1 – Extraction de textes à partir des pdfs</vt:lpstr>
      <vt:lpstr>Partie 2 – Prédiction et classification des informations par appel à un LLM</vt:lpstr>
      <vt:lpstr>Partie 2 – Prédiction et classification des informations par appel à un LLM</vt:lpstr>
      <vt:lpstr>Partie 2.2 – Test du prompt</vt:lpstr>
      <vt:lpstr>Partie 2.2 – Test du prompt</vt:lpstr>
      <vt:lpstr>Partie 2.2 – Test du prompt</vt:lpstr>
      <vt:lpstr>Partie 3 – Test final</vt:lpstr>
      <vt:lpstr>Partie 3 – Test final</vt:lpstr>
      <vt:lpstr>Partie 4 – Évaluation des résultats</vt:lpstr>
      <vt:lpstr>Partie 4 – Évaluation des résultats</vt:lpstr>
      <vt:lpstr>Partie 4 – Évaluation des résultats</vt:lpstr>
      <vt:lpstr>Partie 4.1 – La question du format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Manon Remot</dc:creator>
  <cp:lastModifiedBy>Manon Remot</cp:lastModifiedBy>
  <cp:revision>11</cp:revision>
  <dcterms:created xsi:type="dcterms:W3CDTF">2026-01-24T18:57:07Z</dcterms:created>
  <dcterms:modified xsi:type="dcterms:W3CDTF">2026-04-09T07:29:51Z</dcterms:modified>
</cp:coreProperties>
</file>