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8" r:id="rId3"/>
    <p:sldId id="259" r:id="rId4"/>
    <p:sldId id="260" r:id="rId5"/>
    <p:sldId id="262" r:id="rId6"/>
    <p:sldId id="273" r:id="rId7"/>
    <p:sldId id="261" r:id="rId8"/>
    <p:sldId id="263" r:id="rId9"/>
    <p:sldId id="272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4" r:id="rId19"/>
    <p:sldId id="276" r:id="rId20"/>
    <p:sldId id="277" r:id="rId21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D132A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Style moyen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8A107856-5554-42FB-B03E-39F5DBC370BA}" styleName="Style moyen 4 - Accentuation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69CF1AB2-1976-4502-BF36-3FF5EA218861}" styleName="Style moyen 4 - Accentuation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D7AC3CCA-C797-4891-BE02-D94E43425B78}" styleName="Style moyen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505E3EF-67EA-436B-97B2-0124C06EBD24}" styleName="Style moyen 4 - Accentuation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C4B1156A-380E-4F78-BDF5-A606A8083BF9}" styleName="Style moyen 4 - Accentuation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22838BEF-8BB2-4498-84A7-C5851F593DF1}" styleName="Style moyen 4 - Accentuation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16D9F66E-5EB9-4882-86FB-DCBF35E3C3E4}" styleName="Style moyen 4 - Accentuation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18603FDC-E32A-4AB5-989C-0864C3EAD2B8}" styleName="Style à thème 2 - Accentuation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06799F8-075E-4A3A-A7F6-7FBC6576F1A4}" styleName="Style à thème 2 - Accentuation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113A9D2-9D6B-4929-AA2D-F23B5EE8CBE7}" styleName="Style à thème 2 - Accentuation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Aucun style, grille du tableau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CAF9ED-07DC-4A11-8D7F-57B35C25682E}" styleName="Style moyen 1 - Accentuation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1E4AEA4-8DFA-4A89-87EB-49C32662AFE0}" styleName="Style moyen 2 - Accentuation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81"/>
    <p:restoredTop sz="94729"/>
  </p:normalViewPr>
  <p:slideViewPr>
    <p:cSldViewPr snapToGrid="0">
      <p:cViewPr varScale="1">
        <p:scale>
          <a:sx n="108" d="100"/>
          <a:sy n="108" d="100"/>
        </p:scale>
        <p:origin x="22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0F6CB4-A8B3-B145-B3E2-6187B23FF504}" type="datetimeFigureOut">
              <a:rPr lang="fr-FR" smtClean="0"/>
              <a:t>09/04/2026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C4FFE8-68E0-784C-9D84-2FBFAFB9AA4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470893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C4FFE8-68E0-784C-9D84-2FBFAFB9AA4E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49548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92D156A-0C67-31B1-3023-5A7D83F525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D581512-EE2A-BD65-785B-68A8CBD723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E978413-194E-EDC7-0DC1-9DB0380690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585FF-3087-2543-BD00-770923480DA4}" type="datetimeFigureOut">
              <a:rPr lang="fr-FR" smtClean="0"/>
              <a:t>09/04/2026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C55FB29-737D-EFDD-B800-8945766942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DD07125-164B-0000-BC9E-7132410D5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FF92F-7A1C-424D-9125-4C68EF27B9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46065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ED4A10F-9C8A-9750-47DC-7D44CEF0C5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5453D4D-FC9B-26D2-57D8-FD98144FFF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8F27A68-EA5A-CD21-B79C-1C7D060FC7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585FF-3087-2543-BD00-770923480DA4}" type="datetimeFigureOut">
              <a:rPr lang="fr-FR" smtClean="0"/>
              <a:t>09/04/2026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C7193B6-162E-72C5-D7AF-3B2F1365A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55BD4FD-A490-C98E-738D-9ECC4EC46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FF92F-7A1C-424D-9125-4C68EF27B9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450025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B07656D-797D-214C-5F24-FF890C08D4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4C474BA-F46D-8078-5446-C652022F94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942FFE4-2B89-AEFC-2FE2-AB8D5E097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585FF-3087-2543-BD00-770923480DA4}" type="datetimeFigureOut">
              <a:rPr lang="fr-FR" smtClean="0"/>
              <a:t>09/04/2026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5EEF784-19D7-FBC8-B899-45C57ED5B3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DEF9994-66B2-0C60-5917-6633E8EEBA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FF92F-7A1C-424D-9125-4C68EF27B9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451868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EC8D84-A18A-76F4-7154-F6012C259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87909B6-27EF-9F22-D14F-AC532078DB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2F63075-74BD-AB89-0260-ED79E1CC11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259046D-DBED-0EDE-A48F-BBFECF8EC4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585FF-3087-2543-BD00-770923480DA4}" type="datetimeFigureOut">
              <a:rPr lang="fr-FR" smtClean="0"/>
              <a:t>09/04/2026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35D3D27-85E3-7BF3-FE93-A177A02AA2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49BCD96-35AC-FFF4-A336-643BE448C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FF92F-7A1C-424D-9125-4C68EF27B9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7137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817033B-5158-D3B5-6EDB-06636EA772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CFEE979-43B7-0AC3-7190-A0EB93790A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77073DF-28BF-C4F4-A983-B5BD3FB7DA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01275FCD-3AE4-A471-5C15-B5A4FEBDA2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B8226F26-ED00-836E-D2A5-7B29E5B433B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CD25B48A-B22A-6F2F-6513-25C75D55CB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585FF-3087-2543-BD00-770923480DA4}" type="datetimeFigureOut">
              <a:rPr lang="fr-FR" smtClean="0"/>
              <a:t>09/04/2026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7752E548-20F5-6215-2A7D-9D04686C73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2F6052F6-1F0D-2D10-ACBF-97B8270FC1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FF92F-7A1C-424D-9125-4C68EF27B9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018943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AC14589-4A06-21D8-E985-F191737E17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DD53A2FE-2592-7D2E-3EC5-32C22ED796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585FF-3087-2543-BD00-770923480DA4}" type="datetimeFigureOut">
              <a:rPr lang="fr-FR" smtClean="0"/>
              <a:t>09/04/2026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58E89F9-540C-D51C-EF3C-11CCCB780A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23637E8-BF77-C41E-9E5D-E4BC702409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FF92F-7A1C-424D-9125-4C68EF27B9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40166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DD824444-5B95-8156-AAD1-323E347816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585FF-3087-2543-BD00-770923480DA4}" type="datetimeFigureOut">
              <a:rPr lang="fr-FR" smtClean="0"/>
              <a:t>09/04/2026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49D248B-56D9-BFDE-218E-22DC4A8831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746709F-C01A-F8C0-A728-A4453DD3F7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FF92F-7A1C-424D-9125-4C68EF27B9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365797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2C00C35-4463-F430-32B4-AF291AB70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94B3610-C986-9202-B864-22C93C1DE7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488118B-D484-5AE5-76BC-C5023D136D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413DA21-DDB0-FE11-FF83-7D7C76BB18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585FF-3087-2543-BD00-770923480DA4}" type="datetimeFigureOut">
              <a:rPr lang="fr-FR" smtClean="0"/>
              <a:t>09/04/2026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6829EB8-BEB5-C917-7C51-2C9BF06F9A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0E243B8-D2A3-14BE-CEE6-3AEDBA3BA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FF92F-7A1C-424D-9125-4C68EF27B9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688485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9DEEBF4-F259-7026-9E15-AC8B220391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66D164FC-C4D6-1309-ECB5-56DF456922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52DEED3-6436-ACA2-8F2A-FB4879F9C5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EE3BF2F-D3CC-E765-4BCF-96CC8D1253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585FF-3087-2543-BD00-770923480DA4}" type="datetimeFigureOut">
              <a:rPr lang="fr-FR" smtClean="0"/>
              <a:t>09/04/2026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45241F5-BEEB-69B2-3B6D-EDF4D7D47F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1D92DA7-6AC8-EC1F-73EB-726C4DC19D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FF92F-7A1C-424D-9125-4C68EF27B9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231006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7F33755-2E40-5F84-2651-D9F1991703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CAF191A-87BD-D470-4CE5-22651651E4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043D63E-1DA2-3936-60A9-8BF004172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585FF-3087-2543-BD00-770923480DA4}" type="datetimeFigureOut">
              <a:rPr lang="fr-FR" smtClean="0"/>
              <a:t>09/04/2026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0F51268-DA47-F487-648D-D5EDDE5870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D518D05-3F8A-1A33-89B1-1860678923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FF92F-7A1C-424D-9125-4C68EF27B9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425150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8ADE43A3-C2DA-5DFA-8070-DF90B2AEEA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5E55B3D3-2456-E77E-9D03-8DC09FF579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8CF30BE-C4AE-13CF-411C-5DB961B90B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585FF-3087-2543-BD00-770923480DA4}" type="datetimeFigureOut">
              <a:rPr lang="fr-FR" smtClean="0"/>
              <a:t>09/04/2026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9C86379-5464-7DDC-309C-89BB4E6FE3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4E7AC77-534B-67E1-A220-F59900A092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1FF92F-7A1C-424D-9125-4C68EF27B9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305811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C7663C7A-CEDD-DA31-E54E-6B343B83E8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076F82D-559F-A62A-27ED-7D46C6E83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A7CE3EA-24B7-ABC8-0FE7-09CB83CEBD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2585FF-3087-2543-BD00-770923480DA4}" type="datetimeFigureOut">
              <a:rPr lang="fr-FR" smtClean="0"/>
              <a:t>09/04/2026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E306B36-318B-E1DC-3E7C-3210C8BEF1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FA984CF-94DF-C1C9-4435-F43184803B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1FF92F-7A1C-424D-9125-4C68EF27B90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41386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sv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D13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0EE97AE-2F00-A857-AC9B-94721E2EDBE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>
                <a:solidFill>
                  <a:schemeClr val="bg1"/>
                </a:solidFill>
              </a:rPr>
              <a:t>Quand l’</a:t>
            </a:r>
            <a:r>
              <a:rPr lang="fr-FR" dirty="0" err="1">
                <a:solidFill>
                  <a:schemeClr val="bg1"/>
                </a:solidFill>
              </a:rPr>
              <a:t>Archelec</a:t>
            </a:r>
            <a:r>
              <a:rPr lang="fr-FR" dirty="0">
                <a:solidFill>
                  <a:schemeClr val="bg1"/>
                </a:solidFill>
              </a:rPr>
              <a:t> rencontre l’IA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8765797-0BCC-D720-F0C8-B6854EFC39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717652"/>
            <a:ext cx="9144000" cy="1655762"/>
          </a:xfrm>
        </p:spPr>
        <p:txBody>
          <a:bodyPr/>
          <a:lstStyle/>
          <a:p>
            <a:r>
              <a:rPr lang="fr-FR" dirty="0">
                <a:solidFill>
                  <a:schemeClr val="bg1"/>
                </a:solidFill>
              </a:rPr>
              <a:t>Génération automatique de métadonnées à partir de professions de foi électorales françaises de 2017 à 2024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0FA6A5B3-B1AA-5909-8A8E-F3F4A3C1BD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186" y="136635"/>
            <a:ext cx="3148168" cy="124944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4B6B4B5-2AED-B78F-A9A6-94226C352BC7}"/>
              </a:ext>
            </a:extLst>
          </p:cNvPr>
          <p:cNvSpPr/>
          <p:nvPr/>
        </p:nvSpPr>
        <p:spPr>
          <a:xfrm>
            <a:off x="8854648" y="136635"/>
            <a:ext cx="3148168" cy="124944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pic>
        <p:nvPicPr>
          <p:cNvPr id="9" name="Image 8" descr="Une image contenant Police, Graphique, graphisme, texte&#10;&#10;Le contenu généré par l’IA peut être incorrect.">
            <a:extLst>
              <a:ext uri="{FF2B5EF4-FFF2-40B4-BE49-F238E27FC236}">
                <a16:creationId xmlns:a16="http://schemas.microsoft.com/office/drawing/2014/main" id="{286DFDDC-52D8-E57B-E619-8A6F45F30E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4111" y="528719"/>
            <a:ext cx="3138703" cy="489799"/>
          </a:xfrm>
          <a:prstGeom prst="rect">
            <a:avLst/>
          </a:prstGeom>
        </p:spPr>
      </p:pic>
      <p:sp>
        <p:nvSpPr>
          <p:cNvPr id="10" name="ZoneTexte 9">
            <a:extLst>
              <a:ext uri="{FF2B5EF4-FFF2-40B4-BE49-F238E27FC236}">
                <a16:creationId xmlns:a16="http://schemas.microsoft.com/office/drawing/2014/main" id="{6A958667-DC76-4F22-0CCE-EF0EADE2558B}"/>
              </a:ext>
            </a:extLst>
          </p:cNvPr>
          <p:cNvSpPr txBox="1"/>
          <p:nvPr/>
        </p:nvSpPr>
        <p:spPr>
          <a:xfrm>
            <a:off x="1786514" y="5188748"/>
            <a:ext cx="92525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chemeClr val="bg1"/>
                </a:solidFill>
              </a:rPr>
              <a:t>Projet 13 du </a:t>
            </a:r>
            <a:r>
              <a:rPr lang="fr-FR" dirty="0" err="1">
                <a:solidFill>
                  <a:schemeClr val="bg1"/>
                </a:solidFill>
              </a:rPr>
              <a:t>hackaton</a:t>
            </a:r>
            <a:r>
              <a:rPr lang="fr-FR" dirty="0">
                <a:solidFill>
                  <a:schemeClr val="bg1"/>
                </a:solidFill>
              </a:rPr>
              <a:t> organisé par l’École nationale des chartes la semaine du 5 janvier 2026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DCA7ADFA-85B5-587C-0B5D-29024BF9F661}"/>
              </a:ext>
            </a:extLst>
          </p:cNvPr>
          <p:cNvSpPr txBox="1"/>
          <p:nvPr/>
        </p:nvSpPr>
        <p:spPr>
          <a:xfrm>
            <a:off x="0" y="6459755"/>
            <a:ext cx="405591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>
                <a:solidFill>
                  <a:schemeClr val="bg1"/>
                </a:solidFill>
              </a:rPr>
              <a:t>Maria </a:t>
            </a:r>
            <a:r>
              <a:rPr lang="fr-FR" sz="1400" dirty="0" err="1">
                <a:solidFill>
                  <a:schemeClr val="bg1"/>
                </a:solidFill>
              </a:rPr>
              <a:t>Kirbasova</a:t>
            </a:r>
            <a:r>
              <a:rPr lang="fr-FR" sz="1400" dirty="0">
                <a:solidFill>
                  <a:schemeClr val="bg1"/>
                </a:solidFill>
              </a:rPr>
              <a:t>, Charles Planques, Manon Remot</a:t>
            </a:r>
          </a:p>
          <a:p>
            <a:endParaRPr lang="fr-FR" sz="1400" dirty="0"/>
          </a:p>
        </p:txBody>
      </p:sp>
    </p:spTree>
    <p:extLst>
      <p:ext uri="{BB962C8B-B14F-4D97-AF65-F5344CB8AC3E}">
        <p14:creationId xmlns:p14="http://schemas.microsoft.com/office/powerpoint/2010/main" val="24904636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D13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6711B05-869A-F6EE-2DCE-DB9C76FAC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fr-FR" dirty="0">
                <a:solidFill>
                  <a:schemeClr val="bg1"/>
                </a:solidFill>
              </a:rPr>
              <a:t>Objectif</a:t>
            </a:r>
            <a:endParaRPr lang="fr-FR" sz="5400" dirty="0">
              <a:solidFill>
                <a:schemeClr val="bg1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BEFE678-3683-CB96-3A39-79AE8F32C0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marL="0" indent="0" algn="ctr">
              <a:buNone/>
            </a:pPr>
            <a:r>
              <a:rPr lang="fr-FR" dirty="0">
                <a:solidFill>
                  <a:schemeClr val="bg1"/>
                </a:solidFill>
              </a:rPr>
              <a:t>Constituer la chaîne de traitement pour analyser automatiquement un lot de professions de foi d’élections législatives de 2017 à 2024 afin de générer les métadonnées alignées sur les référentiels fournis. </a:t>
            </a:r>
          </a:p>
        </p:txBody>
      </p:sp>
    </p:spTree>
    <p:extLst>
      <p:ext uri="{BB962C8B-B14F-4D97-AF65-F5344CB8AC3E}">
        <p14:creationId xmlns:p14="http://schemas.microsoft.com/office/powerpoint/2010/main" val="12068946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D13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B56C4A-8EB0-FB46-6851-06011BA89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C64B996-759F-B306-22A7-804AFDDFE6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73159" y="1776981"/>
            <a:ext cx="3898699" cy="3304037"/>
          </a:xfrm>
        </p:spPr>
        <p:txBody>
          <a:bodyPr anchor="ctr"/>
          <a:lstStyle/>
          <a:p>
            <a:pPr marL="0" indent="0">
              <a:buNone/>
            </a:pPr>
            <a:endParaRPr lang="fr-FR" dirty="0">
              <a:solidFill>
                <a:schemeClr val="bg1"/>
              </a:solidFill>
            </a:endParaRPr>
          </a:p>
          <a:p>
            <a:pPr marL="0" indent="0" algn="ctr">
              <a:buNone/>
            </a:pPr>
            <a:r>
              <a:rPr lang="fr-FR" dirty="0">
                <a:solidFill>
                  <a:schemeClr val="bg1"/>
                </a:solidFill>
              </a:rPr>
              <a:t>19 194 professions de foi au format PDF.</a:t>
            </a:r>
          </a:p>
          <a:p>
            <a:pPr marL="0" indent="0">
              <a:buNone/>
            </a:pPr>
            <a:endParaRPr lang="fr-FR" dirty="0">
              <a:solidFill>
                <a:schemeClr val="bg1"/>
              </a:solidFill>
            </a:endParaRPr>
          </a:p>
        </p:txBody>
      </p:sp>
      <p:pic>
        <p:nvPicPr>
          <p:cNvPr id="21" name="Image 20">
            <a:extLst>
              <a:ext uri="{FF2B5EF4-FFF2-40B4-BE49-F238E27FC236}">
                <a16:creationId xmlns:a16="http://schemas.microsoft.com/office/drawing/2014/main" id="{82A6E6B8-50FE-1062-21B8-544CDBA3FF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5421" y="322665"/>
            <a:ext cx="2195094" cy="3106332"/>
          </a:xfrm>
          <a:prstGeom prst="rect">
            <a:avLst/>
          </a:prstGeom>
        </p:spPr>
      </p:pic>
      <p:pic>
        <p:nvPicPr>
          <p:cNvPr id="26" name="Image 25">
            <a:extLst>
              <a:ext uri="{FF2B5EF4-FFF2-40B4-BE49-F238E27FC236}">
                <a16:creationId xmlns:a16="http://schemas.microsoft.com/office/drawing/2014/main" id="{2048E85A-ACAD-4410-2108-8391C48DCD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3114" y="3428997"/>
            <a:ext cx="2212494" cy="3081709"/>
          </a:xfrm>
          <a:prstGeom prst="rect">
            <a:avLst/>
          </a:prstGeom>
        </p:spPr>
      </p:pic>
      <p:pic>
        <p:nvPicPr>
          <p:cNvPr id="28" name="Image 27">
            <a:extLst>
              <a:ext uri="{FF2B5EF4-FFF2-40B4-BE49-F238E27FC236}">
                <a16:creationId xmlns:a16="http://schemas.microsoft.com/office/drawing/2014/main" id="{28EC9070-03C7-DF08-A002-794BB3F74C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3114" y="347294"/>
            <a:ext cx="2195093" cy="3106334"/>
          </a:xfrm>
          <a:prstGeom prst="rect">
            <a:avLst/>
          </a:prstGeom>
        </p:spPr>
      </p:pic>
      <p:pic>
        <p:nvPicPr>
          <p:cNvPr id="30" name="Image 29">
            <a:extLst>
              <a:ext uri="{FF2B5EF4-FFF2-40B4-BE49-F238E27FC236}">
                <a16:creationId xmlns:a16="http://schemas.microsoft.com/office/drawing/2014/main" id="{8B3BE8B4-358B-FD01-6ABF-9FE21780D2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44121" y="3416681"/>
            <a:ext cx="2177693" cy="3081710"/>
          </a:xfrm>
          <a:prstGeom prst="rect">
            <a:avLst/>
          </a:prstGeom>
        </p:spPr>
      </p:pic>
      <p:sp>
        <p:nvSpPr>
          <p:cNvPr id="31" name="Rectangle : coins arrondis 30">
            <a:extLst>
              <a:ext uri="{FF2B5EF4-FFF2-40B4-BE49-F238E27FC236}">
                <a16:creationId xmlns:a16="http://schemas.microsoft.com/office/drawing/2014/main" id="{DE4C1A9E-C59D-5D41-7051-4E3347FD1818}"/>
              </a:ext>
            </a:extLst>
          </p:cNvPr>
          <p:cNvSpPr/>
          <p:nvPr/>
        </p:nvSpPr>
        <p:spPr>
          <a:xfrm>
            <a:off x="10151165" y="2865780"/>
            <a:ext cx="1444487" cy="1126434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ysClr val="windowText" lastClr="000000"/>
                </a:solidFill>
              </a:rPr>
              <a:t>Exemples de profession de foi</a:t>
            </a:r>
          </a:p>
        </p:txBody>
      </p:sp>
    </p:spTree>
    <p:extLst>
      <p:ext uri="{BB962C8B-B14F-4D97-AF65-F5344CB8AC3E}">
        <p14:creationId xmlns:p14="http://schemas.microsoft.com/office/powerpoint/2010/main" val="31430141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D13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5A9D4F-202A-E701-6659-BD00C5E5F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362BB58-7508-8214-04E4-9343B8C97C6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174435" y="5552660"/>
            <a:ext cx="3843130" cy="918646"/>
          </a:xfrm>
        </p:spPr>
        <p:txBody>
          <a:bodyPr anchor="ctr">
            <a:normAutofit lnSpcReduction="10000"/>
          </a:bodyPr>
          <a:lstStyle/>
          <a:p>
            <a:pPr marL="0" indent="0">
              <a:buNone/>
            </a:pPr>
            <a:endParaRPr lang="fr-FR" dirty="0">
              <a:solidFill>
                <a:schemeClr val="bg1"/>
              </a:solidFill>
            </a:endParaRPr>
          </a:p>
          <a:p>
            <a:pPr marL="0" indent="0" algn="ctr">
              <a:buNone/>
            </a:pPr>
            <a:r>
              <a:rPr lang="fr-FR" dirty="0">
                <a:solidFill>
                  <a:schemeClr val="bg1"/>
                </a:solidFill>
              </a:rPr>
              <a:t>Référentiel</a:t>
            </a:r>
          </a:p>
          <a:p>
            <a:pPr marL="0" indent="0">
              <a:buNone/>
            </a:pPr>
            <a:endParaRPr lang="fr-FR" dirty="0">
              <a:solidFill>
                <a:schemeClr val="bg1"/>
              </a:solidFill>
            </a:endParaRPr>
          </a:p>
        </p:txBody>
      </p:sp>
      <p:pic>
        <p:nvPicPr>
          <p:cNvPr id="2" name="Image 1" descr="Une image contenant texte, capture d’écran, ligne&#10;&#10;Le contenu généré par l’IA peut être incorrect.">
            <a:extLst>
              <a:ext uri="{FF2B5EF4-FFF2-40B4-BE49-F238E27FC236}">
                <a16:creationId xmlns:a16="http://schemas.microsoft.com/office/drawing/2014/main" id="{9F6F06CF-2E71-811B-0E2A-DA2E21C6C3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4226" y="715618"/>
            <a:ext cx="9212324" cy="4454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3626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D13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5CB598-0B22-B676-ED98-EA1D6313FC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0624E4EB-DBC8-190A-FCE7-DAF73149F8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>
                <a:solidFill>
                  <a:schemeClr val="bg1"/>
                </a:solidFill>
              </a:rPr>
              <a:t>Travail préliminaire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DE2DD96-3CBF-9907-7D57-AB6086230A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marL="0" indent="0">
              <a:buNone/>
            </a:pPr>
            <a:endParaRPr lang="fr-FR" dirty="0">
              <a:solidFill>
                <a:schemeClr val="bg1"/>
              </a:solidFill>
            </a:endParaRPr>
          </a:p>
          <a:p>
            <a:r>
              <a:rPr lang="fr-FR" dirty="0">
                <a:solidFill>
                  <a:schemeClr val="bg1"/>
                </a:solidFill>
              </a:rPr>
              <a:t>Suppression des documents _</a:t>
            </a:r>
            <a:r>
              <a:rPr lang="fr-FR" dirty="0" err="1">
                <a:solidFill>
                  <a:schemeClr val="bg1"/>
                </a:solidFill>
              </a:rPr>
              <a:t>falc</a:t>
            </a:r>
            <a:r>
              <a:rPr lang="fr-FR" dirty="0">
                <a:solidFill>
                  <a:schemeClr val="bg1"/>
                </a:solidFill>
              </a:rPr>
              <a:t> de la base de données parce qu’ils constituaient des doublons. </a:t>
            </a:r>
          </a:p>
          <a:p>
            <a:r>
              <a:rPr lang="fr-FR" dirty="0">
                <a:solidFill>
                  <a:schemeClr val="bg1"/>
                </a:solidFill>
              </a:rPr>
              <a:t>La base des données a ainsi été réduite à 14 631 documents.</a:t>
            </a:r>
          </a:p>
        </p:txBody>
      </p:sp>
    </p:spTree>
    <p:extLst>
      <p:ext uri="{BB962C8B-B14F-4D97-AF65-F5344CB8AC3E}">
        <p14:creationId xmlns:p14="http://schemas.microsoft.com/office/powerpoint/2010/main" val="16289734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D13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190021C-F66F-2338-AACA-E352AE63DB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>
                <a:solidFill>
                  <a:schemeClr val="bg1"/>
                </a:solidFill>
              </a:rPr>
              <a:t>Partie 1 – Extraction de textes à partir des </a:t>
            </a:r>
            <a:r>
              <a:rPr lang="fr-FR" dirty="0" err="1">
                <a:solidFill>
                  <a:schemeClr val="bg1"/>
                </a:solidFill>
              </a:rPr>
              <a:t>pdfs</a:t>
            </a: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3E9F994-3666-1C94-9240-936917FA868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anchor="ctr">
            <a:normAutofit/>
          </a:bodyPr>
          <a:lstStyle/>
          <a:p>
            <a:r>
              <a:rPr lang="fr-FR" sz="1800" dirty="0">
                <a:solidFill>
                  <a:schemeClr val="bg1"/>
                </a:solidFill>
              </a:rPr>
              <a:t>Récupération des textes des professions de foi avec deux méthodes : </a:t>
            </a:r>
          </a:p>
          <a:p>
            <a:pPr lvl="1">
              <a:buFont typeface="Wingdings" pitchFamily="2" charset="2"/>
              <a:buChar char="Ø"/>
            </a:pPr>
            <a:r>
              <a:rPr lang="fr-FR" sz="1800" dirty="0">
                <a:solidFill>
                  <a:schemeClr val="bg1"/>
                </a:solidFill>
              </a:rPr>
              <a:t>PyMuPDF (fitz)</a:t>
            </a:r>
          </a:p>
          <a:p>
            <a:pPr lvl="1">
              <a:buFont typeface="Wingdings" pitchFamily="2" charset="2"/>
              <a:buChar char="Ø"/>
            </a:pPr>
            <a:r>
              <a:rPr lang="fr-FR" sz="1800" dirty="0">
                <a:solidFill>
                  <a:schemeClr val="bg1"/>
                </a:solidFill>
              </a:rPr>
              <a:t>Mistral OCR</a:t>
            </a:r>
          </a:p>
          <a:p>
            <a:pPr lvl="1">
              <a:buFont typeface="Wingdings" pitchFamily="2" charset="2"/>
              <a:buChar char="Ø"/>
            </a:pPr>
            <a:endParaRPr lang="fr-FR" sz="1800" dirty="0">
              <a:solidFill>
                <a:schemeClr val="bg1"/>
              </a:solidFill>
            </a:endParaRPr>
          </a:p>
          <a:p>
            <a:r>
              <a:rPr lang="fr-FR" sz="1800" dirty="0">
                <a:solidFill>
                  <a:schemeClr val="bg1"/>
                </a:solidFill>
              </a:rPr>
              <a:t>Dans l’exemple à côté, ce qui est encadré en noir est le contenu à extraire. </a:t>
            </a:r>
          </a:p>
        </p:txBody>
      </p:sp>
      <p:pic>
        <p:nvPicPr>
          <p:cNvPr id="8" name="Espace réservé du contenu 7">
            <a:extLst>
              <a:ext uri="{FF2B5EF4-FFF2-40B4-BE49-F238E27FC236}">
                <a16:creationId xmlns:a16="http://schemas.microsoft.com/office/drawing/2014/main" id="{3178F2DA-13B6-7ECD-0975-DC9EEE2E69B1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/>
          <a:stretch>
            <a:fillRect/>
          </a:stretch>
        </p:blipFill>
        <p:spPr>
          <a:xfrm>
            <a:off x="7707086" y="2050956"/>
            <a:ext cx="3309533" cy="4592823"/>
          </a:xfrm>
        </p:spPr>
      </p:pic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2C6AEF37-BF50-125A-B7BA-C9155C0EC8CC}"/>
              </a:ext>
            </a:extLst>
          </p:cNvPr>
          <p:cNvCxnSpPr>
            <a:cxnSpLocks/>
          </p:cNvCxnSpPr>
          <p:nvPr/>
        </p:nvCxnSpPr>
        <p:spPr>
          <a:xfrm>
            <a:off x="8629650" y="3663950"/>
            <a:ext cx="164147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eur droit 36">
            <a:extLst>
              <a:ext uri="{FF2B5EF4-FFF2-40B4-BE49-F238E27FC236}">
                <a16:creationId xmlns:a16="http://schemas.microsoft.com/office/drawing/2014/main" id="{D4285195-18E7-A64D-4435-D2CE625B1925}"/>
              </a:ext>
            </a:extLst>
          </p:cNvPr>
          <p:cNvCxnSpPr>
            <a:cxnSpLocks/>
          </p:cNvCxnSpPr>
          <p:nvPr/>
        </p:nvCxnSpPr>
        <p:spPr>
          <a:xfrm flipV="1">
            <a:off x="8629650" y="3663950"/>
            <a:ext cx="0" cy="22860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6173AB9-BA2C-627B-E608-580D4957A1D9}"/>
              </a:ext>
            </a:extLst>
          </p:cNvPr>
          <p:cNvCxnSpPr/>
          <p:nvPr/>
        </p:nvCxnSpPr>
        <p:spPr>
          <a:xfrm flipH="1">
            <a:off x="8547100" y="3892550"/>
            <a:ext cx="8255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eur droit 44">
            <a:extLst>
              <a:ext uri="{FF2B5EF4-FFF2-40B4-BE49-F238E27FC236}">
                <a16:creationId xmlns:a16="http://schemas.microsoft.com/office/drawing/2014/main" id="{546C67CB-18A1-779C-A540-950D05FE27AF}"/>
              </a:ext>
            </a:extLst>
          </p:cNvPr>
          <p:cNvCxnSpPr/>
          <p:nvPr/>
        </p:nvCxnSpPr>
        <p:spPr>
          <a:xfrm flipV="1">
            <a:off x="8547100" y="3892550"/>
            <a:ext cx="0" cy="22542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eur droit 46">
            <a:extLst>
              <a:ext uri="{FF2B5EF4-FFF2-40B4-BE49-F238E27FC236}">
                <a16:creationId xmlns:a16="http://schemas.microsoft.com/office/drawing/2014/main" id="{7237D7CC-B268-C66D-18DD-15DAEC47CA26}"/>
              </a:ext>
            </a:extLst>
          </p:cNvPr>
          <p:cNvCxnSpPr/>
          <p:nvPr/>
        </p:nvCxnSpPr>
        <p:spPr>
          <a:xfrm>
            <a:off x="8547100" y="4121150"/>
            <a:ext cx="13335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eur droit 48">
            <a:extLst>
              <a:ext uri="{FF2B5EF4-FFF2-40B4-BE49-F238E27FC236}">
                <a16:creationId xmlns:a16="http://schemas.microsoft.com/office/drawing/2014/main" id="{32906CC8-D350-A8B6-D4E6-CCDE42266A79}"/>
              </a:ext>
            </a:extLst>
          </p:cNvPr>
          <p:cNvCxnSpPr>
            <a:cxnSpLocks/>
          </p:cNvCxnSpPr>
          <p:nvPr/>
        </p:nvCxnSpPr>
        <p:spPr>
          <a:xfrm flipV="1">
            <a:off x="8680450" y="4117975"/>
            <a:ext cx="0" cy="24447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eur droit 52">
            <a:extLst>
              <a:ext uri="{FF2B5EF4-FFF2-40B4-BE49-F238E27FC236}">
                <a16:creationId xmlns:a16="http://schemas.microsoft.com/office/drawing/2014/main" id="{74FEA1B0-562F-3305-B158-AE16F11B0576}"/>
              </a:ext>
            </a:extLst>
          </p:cNvPr>
          <p:cNvCxnSpPr>
            <a:cxnSpLocks/>
          </p:cNvCxnSpPr>
          <p:nvPr/>
        </p:nvCxnSpPr>
        <p:spPr>
          <a:xfrm flipH="1">
            <a:off x="8680450" y="4333875"/>
            <a:ext cx="148907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55">
            <a:extLst>
              <a:ext uri="{FF2B5EF4-FFF2-40B4-BE49-F238E27FC236}">
                <a16:creationId xmlns:a16="http://schemas.microsoft.com/office/drawing/2014/main" id="{94D9BF90-1EB7-13EB-5448-DAB437FB8630}"/>
              </a:ext>
            </a:extLst>
          </p:cNvPr>
          <p:cNvCxnSpPr>
            <a:cxnSpLocks/>
          </p:cNvCxnSpPr>
          <p:nvPr/>
        </p:nvCxnSpPr>
        <p:spPr>
          <a:xfrm>
            <a:off x="10140950" y="4095750"/>
            <a:ext cx="0" cy="23812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eur droit 60">
            <a:extLst>
              <a:ext uri="{FF2B5EF4-FFF2-40B4-BE49-F238E27FC236}">
                <a16:creationId xmlns:a16="http://schemas.microsoft.com/office/drawing/2014/main" id="{470E1B85-B474-43CC-556F-3A155F0C8D97}"/>
              </a:ext>
            </a:extLst>
          </p:cNvPr>
          <p:cNvCxnSpPr>
            <a:cxnSpLocks/>
          </p:cNvCxnSpPr>
          <p:nvPr/>
        </p:nvCxnSpPr>
        <p:spPr>
          <a:xfrm>
            <a:off x="9559925" y="3892550"/>
            <a:ext cx="71120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eur droit 63">
            <a:extLst>
              <a:ext uri="{FF2B5EF4-FFF2-40B4-BE49-F238E27FC236}">
                <a16:creationId xmlns:a16="http://schemas.microsoft.com/office/drawing/2014/main" id="{6BE0C1DF-0377-7F4C-10AF-E54472072AF8}"/>
              </a:ext>
            </a:extLst>
          </p:cNvPr>
          <p:cNvCxnSpPr>
            <a:cxnSpLocks/>
          </p:cNvCxnSpPr>
          <p:nvPr/>
        </p:nvCxnSpPr>
        <p:spPr>
          <a:xfrm flipV="1">
            <a:off x="10255250" y="3641725"/>
            <a:ext cx="0" cy="25082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eur droit 67">
            <a:extLst>
              <a:ext uri="{FF2B5EF4-FFF2-40B4-BE49-F238E27FC236}">
                <a16:creationId xmlns:a16="http://schemas.microsoft.com/office/drawing/2014/main" id="{034C705A-474F-5ECB-72BD-C3DB47B02484}"/>
              </a:ext>
            </a:extLst>
          </p:cNvPr>
          <p:cNvCxnSpPr/>
          <p:nvPr/>
        </p:nvCxnSpPr>
        <p:spPr>
          <a:xfrm>
            <a:off x="9559925" y="4117975"/>
            <a:ext cx="581025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eur droit 69">
            <a:extLst>
              <a:ext uri="{FF2B5EF4-FFF2-40B4-BE49-F238E27FC236}">
                <a16:creationId xmlns:a16="http://schemas.microsoft.com/office/drawing/2014/main" id="{AAF79A9E-F504-CE6A-7984-F351A7BE4E84}"/>
              </a:ext>
            </a:extLst>
          </p:cNvPr>
          <p:cNvCxnSpPr>
            <a:cxnSpLocks/>
          </p:cNvCxnSpPr>
          <p:nvPr/>
        </p:nvCxnSpPr>
        <p:spPr>
          <a:xfrm>
            <a:off x="9559925" y="3892550"/>
            <a:ext cx="0" cy="225425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CCBCB560-0742-25DC-128C-F4970DAB401C}"/>
              </a:ext>
            </a:extLst>
          </p:cNvPr>
          <p:cNvSpPr/>
          <p:nvPr/>
        </p:nvSpPr>
        <p:spPr>
          <a:xfrm>
            <a:off x="7789635" y="4505388"/>
            <a:ext cx="3144433" cy="206496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FB916E3D-E05F-E8F6-3191-F7EDD1D3785F}"/>
              </a:ext>
            </a:extLst>
          </p:cNvPr>
          <p:cNvSpPr/>
          <p:nvPr/>
        </p:nvSpPr>
        <p:spPr>
          <a:xfrm>
            <a:off x="7789635" y="2095248"/>
            <a:ext cx="3144433" cy="611618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66524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D13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6D8379-E9A2-F5EC-243E-D6586B662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EABFAA39-D61C-5A85-9071-D4775DC6F8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>
                <a:solidFill>
                  <a:schemeClr val="bg1"/>
                </a:solidFill>
              </a:rPr>
              <a:t>Partie 1 – Extraction de textes à partir des </a:t>
            </a:r>
            <a:r>
              <a:rPr lang="fr-FR" dirty="0" err="1">
                <a:solidFill>
                  <a:schemeClr val="bg1"/>
                </a:solidFill>
              </a:rPr>
              <a:t>pdfs</a:t>
            </a: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FA6E5C9A-3366-A505-6416-9627933A34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17104" y="5167311"/>
            <a:ext cx="5157787" cy="823912"/>
          </a:xfrm>
        </p:spPr>
        <p:txBody>
          <a:bodyPr anchor="ctr">
            <a:normAutofit lnSpcReduction="10000"/>
          </a:bodyPr>
          <a:lstStyle/>
          <a:p>
            <a:pPr algn="ctr"/>
            <a:r>
              <a:rPr lang="fr-FR" sz="2800" b="0" dirty="0">
                <a:solidFill>
                  <a:schemeClr val="bg1"/>
                </a:solidFill>
              </a:rPr>
              <a:t>Méthode 1 – Bibliothèque PyMuPDF (fitz)</a:t>
            </a:r>
          </a:p>
        </p:txBody>
      </p:sp>
      <p:pic>
        <p:nvPicPr>
          <p:cNvPr id="11" name="Image 10" descr="Une image contenant texte, capture d’écran, Police, ligne&#10;&#10;Le contenu généré par l’IA peut être incorrect.">
            <a:extLst>
              <a:ext uri="{FF2B5EF4-FFF2-40B4-BE49-F238E27FC236}">
                <a16:creationId xmlns:a16="http://schemas.microsoft.com/office/drawing/2014/main" id="{A65641DD-F84C-7704-29C6-843781ADFA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668" y="2507447"/>
            <a:ext cx="10684664" cy="1843106"/>
          </a:xfrm>
          <a:prstGeom prst="rect">
            <a:avLst/>
          </a:prstGeom>
          <a:ln w="12700">
            <a:noFill/>
          </a:ln>
        </p:spPr>
      </p:pic>
    </p:spTree>
    <p:extLst>
      <p:ext uri="{BB962C8B-B14F-4D97-AF65-F5344CB8AC3E}">
        <p14:creationId xmlns:p14="http://schemas.microsoft.com/office/powerpoint/2010/main" val="22242863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D13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CB49A9-FA66-B885-33F8-ABA5B98005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14D36E8C-5894-D08A-2473-4D1A6B1CD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>
                <a:solidFill>
                  <a:schemeClr val="bg1"/>
                </a:solidFill>
              </a:rPr>
              <a:t>Partie 1 – Extraction de textes à partir des </a:t>
            </a:r>
            <a:r>
              <a:rPr lang="fr-FR" dirty="0" err="1">
                <a:solidFill>
                  <a:schemeClr val="bg1"/>
                </a:solidFill>
              </a:rPr>
              <a:t>pdfs</a:t>
            </a: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FDE97AE4-44E8-725E-4C58-CABD27294D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17102" y="4755354"/>
            <a:ext cx="5157787" cy="823912"/>
          </a:xfrm>
        </p:spPr>
        <p:txBody>
          <a:bodyPr anchor="ctr">
            <a:normAutofit/>
          </a:bodyPr>
          <a:lstStyle/>
          <a:p>
            <a:pPr algn="ctr"/>
            <a:r>
              <a:rPr lang="fr-FR" sz="2800" b="0" dirty="0">
                <a:solidFill>
                  <a:schemeClr val="bg1"/>
                </a:solidFill>
              </a:rPr>
              <a:t>Méthode 2 – Mistral OCR</a:t>
            </a:r>
          </a:p>
        </p:txBody>
      </p:sp>
      <p:pic>
        <p:nvPicPr>
          <p:cNvPr id="2" name="Image 1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F5F96FDD-A947-3F42-8712-4AA1D6ED98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506" y="2562525"/>
            <a:ext cx="11552981" cy="1732948"/>
          </a:xfrm>
          <a:prstGeom prst="rect">
            <a:avLst/>
          </a:prstGeom>
          <a:ln w="12700">
            <a:noFill/>
          </a:ln>
        </p:spPr>
      </p:pic>
    </p:spTree>
    <p:extLst>
      <p:ext uri="{BB962C8B-B14F-4D97-AF65-F5344CB8AC3E}">
        <p14:creationId xmlns:p14="http://schemas.microsoft.com/office/powerpoint/2010/main" val="2346975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D13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0A5267-9441-7FB6-CE10-11166C1586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D5818595-B852-ACD2-26B2-0A1B657A98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>
                <a:solidFill>
                  <a:schemeClr val="bg1"/>
                </a:solidFill>
              </a:rPr>
              <a:t>Partie 2 – Prédiction et classification des informations par appel à un LLM</a:t>
            </a: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03DFF54C-80EF-609B-9206-40D4D768CD75}"/>
              </a:ext>
            </a:extLst>
          </p:cNvPr>
          <p:cNvSpPr/>
          <p:nvPr/>
        </p:nvSpPr>
        <p:spPr>
          <a:xfrm>
            <a:off x="4407811" y="5167311"/>
            <a:ext cx="3929270" cy="804958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ysClr val="windowText" lastClr="000000"/>
                </a:solidFill>
              </a:rPr>
              <a:t>Extrait du référentiel utilisé pour écrire le prompt</a:t>
            </a:r>
          </a:p>
        </p:txBody>
      </p:sp>
      <p:pic>
        <p:nvPicPr>
          <p:cNvPr id="8" name="Image 7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C88FF8F6-7EC4-5D01-DCD7-736FCC73F0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2166" y="2210768"/>
            <a:ext cx="8847667" cy="2436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87852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D13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32149D-DC5C-C3D1-02C4-D05B38BE5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07B04AAA-FCAB-15F7-2950-31075A6218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4316"/>
            <a:ext cx="10515600" cy="1325563"/>
          </a:xfrm>
        </p:spPr>
        <p:txBody>
          <a:bodyPr/>
          <a:lstStyle/>
          <a:p>
            <a:pPr algn="ctr"/>
            <a:r>
              <a:rPr lang="fr-FR" dirty="0">
                <a:solidFill>
                  <a:schemeClr val="bg1"/>
                </a:solidFill>
              </a:rPr>
              <a:t>Partie 2 – Prédiction et classification des informations par appel à un LLM</a:t>
            </a:r>
          </a:p>
        </p:txBody>
      </p:sp>
      <p:pic>
        <p:nvPicPr>
          <p:cNvPr id="6" name="Image 5" descr="Une image contenant texte, capture d’écran, Police, menu&#10;&#10;Le contenu généré par l’IA peut être incorrect.">
            <a:extLst>
              <a:ext uri="{FF2B5EF4-FFF2-40B4-BE49-F238E27FC236}">
                <a16:creationId xmlns:a16="http://schemas.microsoft.com/office/drawing/2014/main" id="{1556E35E-7B69-6CD4-66EF-A2CE52D68B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553"/>
          <a:stretch>
            <a:fillRect/>
          </a:stretch>
        </p:blipFill>
        <p:spPr>
          <a:xfrm>
            <a:off x="2684804" y="1732314"/>
            <a:ext cx="6822383" cy="3923358"/>
          </a:xfrm>
          <a:prstGeom prst="rect">
            <a:avLst/>
          </a:prstGeom>
        </p:spPr>
      </p:pic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B4F15357-2A6E-1E6F-7E1C-3C209E8A9935}"/>
              </a:ext>
            </a:extLst>
          </p:cNvPr>
          <p:cNvSpPr/>
          <p:nvPr/>
        </p:nvSpPr>
        <p:spPr>
          <a:xfrm>
            <a:off x="4254214" y="5878107"/>
            <a:ext cx="3683565" cy="59586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ysClr val="windowText" lastClr="000000"/>
                </a:solidFill>
              </a:rPr>
              <a:t>Prompt final</a:t>
            </a:r>
          </a:p>
        </p:txBody>
      </p:sp>
    </p:spTree>
    <p:extLst>
      <p:ext uri="{BB962C8B-B14F-4D97-AF65-F5344CB8AC3E}">
        <p14:creationId xmlns:p14="http://schemas.microsoft.com/office/powerpoint/2010/main" val="16182991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D13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8348E0-89AD-93E5-836E-C841D82C0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7CD21F0E-2E19-35BB-60BD-E74BDCCDB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>
                <a:solidFill>
                  <a:schemeClr val="bg1"/>
                </a:solidFill>
              </a:rPr>
              <a:t>Partie 2.2 – Test du prompt</a:t>
            </a:r>
          </a:p>
        </p:txBody>
      </p:sp>
      <p:pic>
        <p:nvPicPr>
          <p:cNvPr id="8" name="Image 7" descr="Une image contenant texte, capture d’écran, reçu&#10;&#10;Le contenu généré par l’IA peut être incorrect.">
            <a:extLst>
              <a:ext uri="{FF2B5EF4-FFF2-40B4-BE49-F238E27FC236}">
                <a16:creationId xmlns:a16="http://schemas.microsoft.com/office/drawing/2014/main" id="{AF70ADBE-26CC-EAC4-ECA8-2BC1682FC7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690688"/>
            <a:ext cx="7772400" cy="3798100"/>
          </a:xfrm>
          <a:prstGeom prst="rect">
            <a:avLst/>
          </a:prstGeom>
        </p:spPr>
      </p:pic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92B0CA33-25DE-17F6-D20B-2D1C7B957C9E}"/>
              </a:ext>
            </a:extLst>
          </p:cNvPr>
          <p:cNvSpPr/>
          <p:nvPr/>
        </p:nvSpPr>
        <p:spPr>
          <a:xfrm>
            <a:off x="4387124" y="5928848"/>
            <a:ext cx="3417751" cy="564027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ysClr val="windowText" lastClr="000000"/>
                </a:solidFill>
              </a:rPr>
              <a:t>Extrait du fichier-échantillon</a:t>
            </a:r>
          </a:p>
        </p:txBody>
      </p:sp>
    </p:spTree>
    <p:extLst>
      <p:ext uri="{BB962C8B-B14F-4D97-AF65-F5344CB8AC3E}">
        <p14:creationId xmlns:p14="http://schemas.microsoft.com/office/powerpoint/2010/main" val="908436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D13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41B519-5F04-60A5-7692-D478A3476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8DE391B2-50D1-1D6F-3664-506381AE65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>
                <a:solidFill>
                  <a:schemeClr val="bg1"/>
                </a:solidFill>
              </a:rPr>
              <a:t>Partie 2.2 – Test du prompt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B2F67CA6-B818-BCE8-B91F-DAF8A9D1935B}"/>
              </a:ext>
            </a:extLst>
          </p:cNvPr>
          <p:cNvSpPr/>
          <p:nvPr/>
        </p:nvSpPr>
        <p:spPr>
          <a:xfrm>
            <a:off x="1762768" y="5156806"/>
            <a:ext cx="3303104" cy="6115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ysClr val="windowText" lastClr="000000"/>
                </a:solidFill>
              </a:rPr>
              <a:t>Extrait du fichier obtenu avec erreurs annotées en rouge</a:t>
            </a:r>
          </a:p>
        </p:txBody>
      </p:sp>
      <p:pic>
        <p:nvPicPr>
          <p:cNvPr id="10" name="Image 9" descr="Une image contenant texte, capture d’écran, nombre, Police&#10;&#10;Le contenu généré par l’IA peut être incorrect.">
            <a:extLst>
              <a:ext uri="{FF2B5EF4-FFF2-40B4-BE49-F238E27FC236}">
                <a16:creationId xmlns:a16="http://schemas.microsoft.com/office/drawing/2014/main" id="{E1382263-773A-5CCC-EE12-F55B27726E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784" y="2086326"/>
            <a:ext cx="5975073" cy="2265430"/>
          </a:xfrm>
          <a:prstGeom prst="rect">
            <a:avLst/>
          </a:prstGeom>
        </p:spPr>
      </p:pic>
      <p:pic>
        <p:nvPicPr>
          <p:cNvPr id="12" name="Image 11" descr="Une image contenant texte, capture d’écran, nombre, Police&#10;&#10;Le contenu généré par l’IA peut être incorrect.">
            <a:extLst>
              <a:ext uri="{FF2B5EF4-FFF2-40B4-BE49-F238E27FC236}">
                <a16:creationId xmlns:a16="http://schemas.microsoft.com/office/drawing/2014/main" id="{27A43EA9-FDD0-99A5-F4C1-0FC1D10537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7392" y="2086326"/>
            <a:ext cx="4807824" cy="2265430"/>
          </a:xfrm>
          <a:prstGeom prst="rect">
            <a:avLst/>
          </a:prstGeom>
        </p:spPr>
      </p:pic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791E65AE-29B4-4664-A60A-22E85A6853C5}"/>
              </a:ext>
            </a:extLst>
          </p:cNvPr>
          <p:cNvSpPr/>
          <p:nvPr/>
        </p:nvSpPr>
        <p:spPr>
          <a:xfrm>
            <a:off x="7709752" y="5156806"/>
            <a:ext cx="3303104" cy="6115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>
              <a:solidFill>
                <a:sysClr val="windowText" lastClr="000000"/>
              </a:solidFill>
            </a:endParaRPr>
          </a:p>
          <a:p>
            <a:pPr algn="ctr"/>
            <a:r>
              <a:rPr lang="fr-FR" dirty="0">
                <a:solidFill>
                  <a:sysClr val="windowText" lastClr="000000"/>
                </a:solidFill>
              </a:rPr>
              <a:t>Extrait du fichier obtenu avec erreurs corrigées en vert</a:t>
            </a:r>
          </a:p>
          <a:p>
            <a:pPr algn="ctr"/>
            <a:endParaRPr lang="fr-FR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97007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D13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BF372A-EFA3-4D9B-407D-097431D6D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4DD4A04A-4904-F60C-ACC4-A9BE12DCA8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>
                <a:solidFill>
                  <a:schemeClr val="bg1"/>
                </a:solidFill>
              </a:rPr>
              <a:t>Partie 2.2 – Test du prompt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E19ACF49-4087-FEB6-1F16-82B4FB3FC41A}"/>
              </a:ext>
            </a:extLst>
          </p:cNvPr>
          <p:cNvSpPr/>
          <p:nvPr/>
        </p:nvSpPr>
        <p:spPr>
          <a:xfrm>
            <a:off x="4444448" y="5170976"/>
            <a:ext cx="3303104" cy="6115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ysClr val="windowText" lastClr="000000"/>
                </a:solidFill>
              </a:rPr>
              <a:t>Modèles utilisés</a:t>
            </a:r>
          </a:p>
        </p:txBody>
      </p:sp>
      <p:pic>
        <p:nvPicPr>
          <p:cNvPr id="2" name="Image 1" descr="Une image contenant texte, capture d’écran, Police, logo&#10;&#10;Le contenu généré par l’IA peut être incorrect.">
            <a:extLst>
              <a:ext uri="{FF2B5EF4-FFF2-40B4-BE49-F238E27FC236}">
                <a16:creationId xmlns:a16="http://schemas.microsoft.com/office/drawing/2014/main" id="{C80242E5-40BE-FC8B-C30E-F9F25E6539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5823" y="2360713"/>
            <a:ext cx="5562600" cy="876300"/>
          </a:xfrm>
          <a:prstGeom prst="rect">
            <a:avLst/>
          </a:prstGeom>
        </p:spPr>
      </p:pic>
      <p:pic>
        <p:nvPicPr>
          <p:cNvPr id="3" name="Image 2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14E7A2D0-5E5F-273E-6CD5-3096682B46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9623" y="3620988"/>
            <a:ext cx="5638800" cy="901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58315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D13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92FF41-BEE2-F23B-20D9-1FE1E2315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8408985A-C787-67D8-CB65-A2F911BA7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>
                <a:solidFill>
                  <a:schemeClr val="bg1"/>
                </a:solidFill>
              </a:rPr>
              <a:t>Partie 3 – Test final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06BEA79E-692B-A65C-45D1-E36A25E46157}"/>
              </a:ext>
            </a:extLst>
          </p:cNvPr>
          <p:cNvSpPr/>
          <p:nvPr/>
        </p:nvSpPr>
        <p:spPr>
          <a:xfrm>
            <a:off x="4444448" y="5881322"/>
            <a:ext cx="3303104" cy="6115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ysClr val="windowText" lastClr="000000"/>
                </a:solidFill>
              </a:rPr>
              <a:t>Division des données en </a:t>
            </a:r>
            <a:r>
              <a:rPr lang="fr-FR" dirty="0" err="1">
                <a:solidFill>
                  <a:sysClr val="windowText" lastClr="000000"/>
                </a:solidFill>
              </a:rPr>
              <a:t>batchs</a:t>
            </a:r>
            <a:endParaRPr lang="fr-FR" dirty="0">
              <a:solidFill>
                <a:sysClr val="windowText" lastClr="000000"/>
              </a:solidFill>
            </a:endParaRPr>
          </a:p>
        </p:txBody>
      </p:sp>
      <p:pic>
        <p:nvPicPr>
          <p:cNvPr id="6" name="Image 5" descr="Une image contenant texte, capture d’écran, logiciel&#10;&#10;Le contenu généré par l’IA peut être incorrect.">
            <a:extLst>
              <a:ext uri="{FF2B5EF4-FFF2-40B4-BE49-F238E27FC236}">
                <a16:creationId xmlns:a16="http://schemas.microsoft.com/office/drawing/2014/main" id="{168556B0-C1D9-5A41-7EEC-B5C447779F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690688"/>
            <a:ext cx="7772400" cy="4010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82810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D13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F3AA22-2193-9A82-A6A6-493E6FBC1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39DE910-0B96-956B-99C7-178B59595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>
                <a:solidFill>
                  <a:schemeClr val="bg1"/>
                </a:solidFill>
              </a:rPr>
              <a:t>Partie 3 – Test final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ACD347BB-EA12-5098-7546-87041D5B3693}"/>
              </a:ext>
            </a:extLst>
          </p:cNvPr>
          <p:cNvSpPr/>
          <p:nvPr/>
        </p:nvSpPr>
        <p:spPr>
          <a:xfrm>
            <a:off x="4192657" y="5510261"/>
            <a:ext cx="3303104" cy="6115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ysClr val="windowText" lastClr="000000"/>
                </a:solidFill>
              </a:rPr>
              <a:t>Modèles utilisés </a:t>
            </a:r>
          </a:p>
        </p:txBody>
      </p:sp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56F9BDEA-363A-EFE1-E2D0-BD39DAE38E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4458129"/>
              </p:ext>
            </p:extLst>
          </p:nvPr>
        </p:nvGraphicFramePr>
        <p:xfrm>
          <a:off x="2032000" y="2592496"/>
          <a:ext cx="8128000" cy="1673007"/>
        </p:xfrm>
        <a:graphic>
          <a:graphicData uri="http://schemas.openxmlformats.org/drawingml/2006/table">
            <a:tbl>
              <a:tblPr firstRow="1" bandRow="1">
                <a:tableStyleId>{9DCAF9ED-07DC-4A11-8D7F-57B35C25682E}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394007968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0717237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 Chez Mistral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Chez </a:t>
                      </a:r>
                      <a:r>
                        <a:rPr lang="fr-FR" dirty="0" err="1"/>
                        <a:t>OpenAI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17505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Mistral Large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ChatGPT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8086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Mistral Small 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GPT-5-nano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5480254"/>
                  </a:ext>
                </a:extLst>
              </a:tr>
              <a:tr h="560487">
                <a:tc>
                  <a:txBody>
                    <a:bodyPr/>
                    <a:lstStyle/>
                    <a:p>
                      <a:pPr algn="ctr"/>
                      <a:r>
                        <a:rPr lang="fr-FR" dirty="0" err="1"/>
                        <a:t>Ministral</a:t>
                      </a:r>
                      <a:r>
                        <a:rPr lang="fr-FR" dirty="0"/>
                        <a:t> 3 3B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45226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754108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D13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E68961-334F-C67C-DE60-B00EA8462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44BF61A7-44F5-A973-15F6-2161220AAD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>
                <a:solidFill>
                  <a:schemeClr val="bg1"/>
                </a:solidFill>
              </a:rPr>
              <a:t>Partie 4 – Évaluation des résultats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B29DCDFA-41A4-CA63-F851-4E4CC69B0782}"/>
              </a:ext>
            </a:extLst>
          </p:cNvPr>
          <p:cNvSpPr/>
          <p:nvPr/>
        </p:nvSpPr>
        <p:spPr>
          <a:xfrm>
            <a:off x="4444448" y="5881321"/>
            <a:ext cx="3303104" cy="6115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ysClr val="windowText" lastClr="000000"/>
                </a:solidFill>
              </a:rPr>
              <a:t>Résultats </a:t>
            </a:r>
          </a:p>
        </p:txBody>
      </p:sp>
      <p:pic>
        <p:nvPicPr>
          <p:cNvPr id="5" name="Image 4" descr="Une image contenant texte, capture d’écran, Police&#10;&#10;Le contenu généré par l’IA peut être incorrect.">
            <a:extLst>
              <a:ext uri="{FF2B5EF4-FFF2-40B4-BE49-F238E27FC236}">
                <a16:creationId xmlns:a16="http://schemas.microsoft.com/office/drawing/2014/main" id="{84283D46-0786-BC8D-46E0-923BC25BB2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690688"/>
            <a:ext cx="7772400" cy="3535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17248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D13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AE7391-DAC8-210C-C313-2EB999170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8B4E60C7-B918-B1D7-9310-7C44484FC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>
                <a:solidFill>
                  <a:schemeClr val="bg1"/>
                </a:solidFill>
              </a:rPr>
              <a:t>Partie 4 – Évaluation des résultats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DB5A9094-F74A-CFDE-6040-45312222016E}"/>
              </a:ext>
            </a:extLst>
          </p:cNvPr>
          <p:cNvSpPr/>
          <p:nvPr/>
        </p:nvSpPr>
        <p:spPr>
          <a:xfrm>
            <a:off x="4444448" y="5167312"/>
            <a:ext cx="3303104" cy="6115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ysClr val="windowText" lastClr="000000"/>
                </a:solidFill>
              </a:rPr>
              <a:t>Résultats </a:t>
            </a:r>
          </a:p>
        </p:txBody>
      </p:sp>
      <p:pic>
        <p:nvPicPr>
          <p:cNvPr id="3" name="Image 2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AE6CEA01-B488-B839-FBBE-0B40701A98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1951" y="2187089"/>
            <a:ext cx="4068098" cy="2483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69513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D13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A116CB-0D9E-3E18-EC55-83BA55EC11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F9905B9A-B9F2-5A20-1F90-05F9DEE6C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>
                <a:solidFill>
                  <a:schemeClr val="bg1"/>
                </a:solidFill>
              </a:rPr>
              <a:t>Partie 4 – Évaluation des résultats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DC577AB6-DBA2-71F4-B030-34FE120DAA35}"/>
              </a:ext>
            </a:extLst>
          </p:cNvPr>
          <p:cNvSpPr/>
          <p:nvPr/>
        </p:nvSpPr>
        <p:spPr>
          <a:xfrm>
            <a:off x="4444448" y="5167312"/>
            <a:ext cx="3303104" cy="61155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>
                <a:solidFill>
                  <a:sysClr val="windowText" lastClr="000000"/>
                </a:solidFill>
              </a:rPr>
              <a:t>Résultats </a:t>
            </a:r>
          </a:p>
        </p:txBody>
      </p:sp>
      <p:pic>
        <p:nvPicPr>
          <p:cNvPr id="3" name="Image 2" descr="Une image contenant texte, capture d’écran, Police, nombre&#10;&#10;Le contenu généré par l’IA peut être incorrect.">
            <a:extLst>
              <a:ext uri="{FF2B5EF4-FFF2-40B4-BE49-F238E27FC236}">
                <a16:creationId xmlns:a16="http://schemas.microsoft.com/office/drawing/2014/main" id="{F130EC09-EAB8-B7DC-E34E-5C32DC443B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1951" y="2187089"/>
            <a:ext cx="4068098" cy="2483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25035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D13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D8005B-6EBB-7FFD-5B33-E1936155B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F088F38F-D29D-C4E1-B4EB-BBD506EDAE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>
                <a:solidFill>
                  <a:schemeClr val="bg1"/>
                </a:solidFill>
              </a:rPr>
              <a:t>Partie 4.1 – La question du format</a:t>
            </a:r>
          </a:p>
        </p:txBody>
      </p:sp>
      <p:graphicFrame>
        <p:nvGraphicFramePr>
          <p:cNvPr id="7" name="Tableau 6">
            <a:extLst>
              <a:ext uri="{FF2B5EF4-FFF2-40B4-BE49-F238E27FC236}">
                <a16:creationId xmlns:a16="http://schemas.microsoft.com/office/drawing/2014/main" id="{DAA93C17-A102-4D58-70D5-388765E237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7864808"/>
              </p:ext>
            </p:extLst>
          </p:nvPr>
        </p:nvGraphicFramePr>
        <p:xfrm>
          <a:off x="2032000" y="1690688"/>
          <a:ext cx="8128000" cy="2916037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57329386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254883505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88932459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691532852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640754208"/>
                    </a:ext>
                  </a:extLst>
                </a:gridCol>
              </a:tblGrid>
              <a:tr h="69984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b="1" dirty="0">
                          <a:solidFill>
                            <a:schemeClr val="bg1"/>
                          </a:solidFill>
                        </a:rPr>
                        <a:t>Modèle</a:t>
                      </a:r>
                    </a:p>
                    <a:p>
                      <a:pPr algn="ctr"/>
                      <a:endParaRPr lang="fr-F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Respect du format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Réponse organisée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Réponse réutilisable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dirty="0"/>
                        <a:t>Stabilité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0802087"/>
                  </a:ext>
                </a:extLst>
              </a:tr>
              <a:tr h="99978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b="1" dirty="0">
                          <a:solidFill>
                            <a:schemeClr val="tx1"/>
                          </a:solidFill>
                        </a:rPr>
                        <a:t>Mistral Large 3</a:t>
                      </a:r>
                    </a:p>
                    <a:p>
                      <a:pPr algn="ctr"/>
                      <a:endParaRPr lang="fr-FR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0843852"/>
                  </a:ext>
                </a:extLst>
              </a:tr>
              <a:tr h="405468">
                <a:tc>
                  <a:txBody>
                    <a:bodyPr/>
                    <a:lstStyle/>
                    <a:p>
                      <a:pPr algn="ctr"/>
                      <a:r>
                        <a:rPr lang="fr-FR" b="1" dirty="0">
                          <a:solidFill>
                            <a:schemeClr val="tx1"/>
                          </a:solidFill>
                        </a:rPr>
                        <a:t>Mistral Small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b="1" dirty="0"/>
                        <a:t>NR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8977422"/>
                  </a:ext>
                </a:extLst>
              </a:tr>
              <a:tr h="40546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b="1" dirty="0" err="1">
                          <a:solidFill>
                            <a:schemeClr val="tx1"/>
                          </a:solidFill>
                        </a:rPr>
                        <a:t>Ministral</a:t>
                      </a:r>
                      <a:r>
                        <a:rPr lang="fr-FR" b="1" dirty="0">
                          <a:solidFill>
                            <a:schemeClr val="tx1"/>
                          </a:solidFill>
                        </a:rPr>
                        <a:t> 3B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7698550"/>
                  </a:ext>
                </a:extLst>
              </a:tr>
              <a:tr h="405468">
                <a:tc>
                  <a:txBody>
                    <a:bodyPr/>
                    <a:lstStyle/>
                    <a:p>
                      <a:pPr algn="ctr"/>
                      <a:r>
                        <a:rPr lang="fr-FR" b="1" dirty="0">
                          <a:solidFill>
                            <a:schemeClr val="tx1"/>
                          </a:solidFill>
                        </a:rPr>
                        <a:t>ChatGPT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9522264"/>
                  </a:ext>
                </a:extLst>
              </a:tr>
            </a:tbl>
          </a:graphicData>
        </a:graphic>
      </p:graphicFrame>
      <p:sp>
        <p:nvSpPr>
          <p:cNvPr id="8" name="Multiplication 7">
            <a:extLst>
              <a:ext uri="{FF2B5EF4-FFF2-40B4-BE49-F238E27FC236}">
                <a16:creationId xmlns:a16="http://schemas.microsoft.com/office/drawing/2014/main" id="{A93E623E-CDA9-89C2-CC63-18B4C39F6615}"/>
              </a:ext>
            </a:extLst>
          </p:cNvPr>
          <p:cNvSpPr>
            <a:spLocks/>
          </p:cNvSpPr>
          <p:nvPr/>
        </p:nvSpPr>
        <p:spPr>
          <a:xfrm>
            <a:off x="4271056" y="2661896"/>
            <a:ext cx="254643" cy="342900"/>
          </a:xfrm>
          <a:prstGeom prst="mathMultiply">
            <a:avLst/>
          </a:prstGeom>
          <a:solidFill>
            <a:srgbClr val="FF0000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 </a:t>
            </a:r>
          </a:p>
        </p:txBody>
      </p:sp>
      <p:sp>
        <p:nvSpPr>
          <p:cNvPr id="9" name="Multiplication 8">
            <a:extLst>
              <a:ext uri="{FF2B5EF4-FFF2-40B4-BE49-F238E27FC236}">
                <a16:creationId xmlns:a16="http://schemas.microsoft.com/office/drawing/2014/main" id="{27333239-AA59-BD2D-4E50-681BF2BEFB5E}"/>
              </a:ext>
            </a:extLst>
          </p:cNvPr>
          <p:cNvSpPr>
            <a:spLocks/>
          </p:cNvSpPr>
          <p:nvPr/>
        </p:nvSpPr>
        <p:spPr>
          <a:xfrm>
            <a:off x="4271056" y="3863615"/>
            <a:ext cx="254643" cy="342900"/>
          </a:xfrm>
          <a:prstGeom prst="mathMultiply">
            <a:avLst/>
          </a:prstGeom>
          <a:solidFill>
            <a:srgbClr val="FF0000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 </a:t>
            </a:r>
          </a:p>
        </p:txBody>
      </p:sp>
      <p:sp>
        <p:nvSpPr>
          <p:cNvPr id="10" name="Multiplication 9">
            <a:extLst>
              <a:ext uri="{FF2B5EF4-FFF2-40B4-BE49-F238E27FC236}">
                <a16:creationId xmlns:a16="http://schemas.microsoft.com/office/drawing/2014/main" id="{451B7258-7B3C-1522-1745-B98F9B5DE6DF}"/>
              </a:ext>
            </a:extLst>
          </p:cNvPr>
          <p:cNvSpPr>
            <a:spLocks/>
          </p:cNvSpPr>
          <p:nvPr/>
        </p:nvSpPr>
        <p:spPr>
          <a:xfrm>
            <a:off x="4271056" y="3429000"/>
            <a:ext cx="254643" cy="342900"/>
          </a:xfrm>
          <a:prstGeom prst="mathMultiply">
            <a:avLst/>
          </a:prstGeom>
          <a:solidFill>
            <a:srgbClr val="FF0000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 </a:t>
            </a:r>
          </a:p>
        </p:txBody>
      </p:sp>
      <p:sp>
        <p:nvSpPr>
          <p:cNvPr id="14" name="Multiplication 13">
            <a:extLst>
              <a:ext uri="{FF2B5EF4-FFF2-40B4-BE49-F238E27FC236}">
                <a16:creationId xmlns:a16="http://schemas.microsoft.com/office/drawing/2014/main" id="{A581E265-B0AD-DCDB-A06D-A42E30D90FB1}"/>
              </a:ext>
            </a:extLst>
          </p:cNvPr>
          <p:cNvSpPr>
            <a:spLocks/>
          </p:cNvSpPr>
          <p:nvPr/>
        </p:nvSpPr>
        <p:spPr>
          <a:xfrm>
            <a:off x="4271056" y="4235170"/>
            <a:ext cx="254643" cy="342900"/>
          </a:xfrm>
          <a:prstGeom prst="mathMultiply">
            <a:avLst/>
          </a:prstGeom>
          <a:solidFill>
            <a:srgbClr val="FF0000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 </a:t>
            </a:r>
          </a:p>
        </p:txBody>
      </p:sp>
      <p:pic>
        <p:nvPicPr>
          <p:cNvPr id="16" name="Graphique 15" descr="Coche avec un remplissage uni">
            <a:extLst>
              <a:ext uri="{FF2B5EF4-FFF2-40B4-BE49-F238E27FC236}">
                <a16:creationId xmlns:a16="http://schemas.microsoft.com/office/drawing/2014/main" id="{84F2802F-4DE6-2B43-DF0F-39B3A6A665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9499" y="2661896"/>
            <a:ext cx="376501" cy="376501"/>
          </a:xfrm>
          <a:prstGeom prst="rect">
            <a:avLst/>
          </a:prstGeom>
        </p:spPr>
      </p:pic>
      <p:pic>
        <p:nvPicPr>
          <p:cNvPr id="18" name="Graphique 17" descr="Coche avec un remplissage uni">
            <a:extLst>
              <a:ext uri="{FF2B5EF4-FFF2-40B4-BE49-F238E27FC236}">
                <a16:creationId xmlns:a16="http://schemas.microsoft.com/office/drawing/2014/main" id="{94C41BAE-F153-38BB-1190-BCB30588E1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63248" y="2661896"/>
            <a:ext cx="376501" cy="376501"/>
          </a:xfrm>
          <a:prstGeom prst="rect">
            <a:avLst/>
          </a:prstGeom>
        </p:spPr>
      </p:pic>
      <p:pic>
        <p:nvPicPr>
          <p:cNvPr id="19" name="Graphique 18" descr="Coche avec un remplissage uni">
            <a:extLst>
              <a:ext uri="{FF2B5EF4-FFF2-40B4-BE49-F238E27FC236}">
                <a16:creationId xmlns:a16="http://schemas.microsoft.com/office/drawing/2014/main" id="{6AC09112-8E25-EBF5-745B-1ACE7DDA25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9499" y="2639749"/>
            <a:ext cx="376501" cy="376501"/>
          </a:xfrm>
          <a:prstGeom prst="rect">
            <a:avLst/>
          </a:prstGeom>
        </p:spPr>
      </p:pic>
      <p:pic>
        <p:nvPicPr>
          <p:cNvPr id="20" name="Graphique 19" descr="Coche avec un remplissage uni">
            <a:extLst>
              <a:ext uri="{FF2B5EF4-FFF2-40B4-BE49-F238E27FC236}">
                <a16:creationId xmlns:a16="http://schemas.microsoft.com/office/drawing/2014/main" id="{EE6C48AB-BC5F-0806-7DA4-5B6658BBDD7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030496" y="2644671"/>
            <a:ext cx="376501" cy="376501"/>
          </a:xfrm>
          <a:prstGeom prst="rect">
            <a:avLst/>
          </a:prstGeom>
        </p:spPr>
      </p:pic>
      <p:pic>
        <p:nvPicPr>
          <p:cNvPr id="21" name="Graphique 20" descr="Coche avec un remplissage uni">
            <a:extLst>
              <a:ext uri="{FF2B5EF4-FFF2-40B4-BE49-F238E27FC236}">
                <a16:creationId xmlns:a16="http://schemas.microsoft.com/office/drawing/2014/main" id="{F429B758-ED76-EC59-5878-6124E44DAE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9499" y="3400321"/>
            <a:ext cx="376501" cy="376501"/>
          </a:xfrm>
          <a:prstGeom prst="rect">
            <a:avLst/>
          </a:prstGeom>
        </p:spPr>
      </p:pic>
      <p:pic>
        <p:nvPicPr>
          <p:cNvPr id="22" name="Graphique 21" descr="Coche avec un remplissage uni">
            <a:extLst>
              <a:ext uri="{FF2B5EF4-FFF2-40B4-BE49-F238E27FC236}">
                <a16:creationId xmlns:a16="http://schemas.microsoft.com/office/drawing/2014/main" id="{4B34C75F-B8C7-ED3F-7F96-8FE08730F5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63247" y="3395399"/>
            <a:ext cx="376501" cy="376501"/>
          </a:xfrm>
          <a:prstGeom prst="rect">
            <a:avLst/>
          </a:prstGeom>
        </p:spPr>
      </p:pic>
      <p:pic>
        <p:nvPicPr>
          <p:cNvPr id="23" name="Graphique 22" descr="Coche avec un remplissage uni">
            <a:extLst>
              <a:ext uri="{FF2B5EF4-FFF2-40B4-BE49-F238E27FC236}">
                <a16:creationId xmlns:a16="http://schemas.microsoft.com/office/drawing/2014/main" id="{B86E68D3-3187-ACF4-D21E-E81D6D8373C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9498" y="3846814"/>
            <a:ext cx="376501" cy="376501"/>
          </a:xfrm>
          <a:prstGeom prst="rect">
            <a:avLst/>
          </a:prstGeom>
        </p:spPr>
      </p:pic>
      <p:sp>
        <p:nvSpPr>
          <p:cNvPr id="25" name="Multiplication 24">
            <a:extLst>
              <a:ext uri="{FF2B5EF4-FFF2-40B4-BE49-F238E27FC236}">
                <a16:creationId xmlns:a16="http://schemas.microsoft.com/office/drawing/2014/main" id="{9DAC62DF-BAFE-D987-F99C-F404216DF8CD}"/>
              </a:ext>
            </a:extLst>
          </p:cNvPr>
          <p:cNvSpPr>
            <a:spLocks/>
          </p:cNvSpPr>
          <p:nvPr/>
        </p:nvSpPr>
        <p:spPr>
          <a:xfrm>
            <a:off x="7624175" y="3838155"/>
            <a:ext cx="254643" cy="342900"/>
          </a:xfrm>
          <a:prstGeom prst="mathMultiply">
            <a:avLst/>
          </a:prstGeom>
          <a:solidFill>
            <a:srgbClr val="FF0000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 </a:t>
            </a:r>
          </a:p>
        </p:txBody>
      </p:sp>
      <p:sp>
        <p:nvSpPr>
          <p:cNvPr id="26" name="Multiplication 25">
            <a:extLst>
              <a:ext uri="{FF2B5EF4-FFF2-40B4-BE49-F238E27FC236}">
                <a16:creationId xmlns:a16="http://schemas.microsoft.com/office/drawing/2014/main" id="{A45765B1-45B8-A26E-5564-E09DF9EDF55B}"/>
              </a:ext>
            </a:extLst>
          </p:cNvPr>
          <p:cNvSpPr>
            <a:spLocks/>
          </p:cNvSpPr>
          <p:nvPr/>
        </p:nvSpPr>
        <p:spPr>
          <a:xfrm>
            <a:off x="9279672" y="3838155"/>
            <a:ext cx="254643" cy="342900"/>
          </a:xfrm>
          <a:prstGeom prst="mathMultiply">
            <a:avLst/>
          </a:prstGeom>
          <a:solidFill>
            <a:srgbClr val="FF0000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 </a:t>
            </a:r>
          </a:p>
        </p:txBody>
      </p:sp>
      <p:sp>
        <p:nvSpPr>
          <p:cNvPr id="27" name="Multiplication 26">
            <a:extLst>
              <a:ext uri="{FF2B5EF4-FFF2-40B4-BE49-F238E27FC236}">
                <a16:creationId xmlns:a16="http://schemas.microsoft.com/office/drawing/2014/main" id="{7353674F-199A-AF3D-31FE-A214DB77D934}"/>
              </a:ext>
            </a:extLst>
          </p:cNvPr>
          <p:cNvSpPr>
            <a:spLocks/>
          </p:cNvSpPr>
          <p:nvPr/>
        </p:nvSpPr>
        <p:spPr>
          <a:xfrm>
            <a:off x="5780426" y="4263825"/>
            <a:ext cx="254643" cy="342900"/>
          </a:xfrm>
          <a:prstGeom prst="mathMultiply">
            <a:avLst/>
          </a:prstGeom>
          <a:solidFill>
            <a:srgbClr val="FF0000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 </a:t>
            </a:r>
          </a:p>
        </p:txBody>
      </p:sp>
      <p:sp>
        <p:nvSpPr>
          <p:cNvPr id="28" name="Multiplication 27">
            <a:extLst>
              <a:ext uri="{FF2B5EF4-FFF2-40B4-BE49-F238E27FC236}">
                <a16:creationId xmlns:a16="http://schemas.microsoft.com/office/drawing/2014/main" id="{3EDA844E-DD10-726B-9B5E-CCEAC2FC9BED}"/>
              </a:ext>
            </a:extLst>
          </p:cNvPr>
          <p:cNvSpPr>
            <a:spLocks/>
          </p:cNvSpPr>
          <p:nvPr/>
        </p:nvSpPr>
        <p:spPr>
          <a:xfrm>
            <a:off x="7624175" y="4266466"/>
            <a:ext cx="254643" cy="342900"/>
          </a:xfrm>
          <a:prstGeom prst="mathMultiply">
            <a:avLst/>
          </a:prstGeom>
          <a:solidFill>
            <a:srgbClr val="FF0000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 </a:t>
            </a:r>
          </a:p>
        </p:txBody>
      </p:sp>
      <p:sp>
        <p:nvSpPr>
          <p:cNvPr id="29" name="Multiplication 28">
            <a:extLst>
              <a:ext uri="{FF2B5EF4-FFF2-40B4-BE49-F238E27FC236}">
                <a16:creationId xmlns:a16="http://schemas.microsoft.com/office/drawing/2014/main" id="{51BF9B19-54C0-5830-396F-920B5E45D127}"/>
              </a:ext>
            </a:extLst>
          </p:cNvPr>
          <p:cNvSpPr>
            <a:spLocks/>
          </p:cNvSpPr>
          <p:nvPr/>
        </p:nvSpPr>
        <p:spPr>
          <a:xfrm>
            <a:off x="9279671" y="4263825"/>
            <a:ext cx="254643" cy="342900"/>
          </a:xfrm>
          <a:prstGeom prst="mathMultiply">
            <a:avLst/>
          </a:prstGeom>
          <a:solidFill>
            <a:srgbClr val="FF0000"/>
          </a:solidFill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862574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D13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F29611-1BD3-7DE7-7B97-67FFF9241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A4378194-BBA4-1FCB-B3C5-548D5805A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>
                <a:solidFill>
                  <a:schemeClr val="bg1"/>
                </a:solidFill>
              </a:rPr>
              <a:t>Conclusion</a:t>
            </a:r>
            <a:endParaRPr lang="fr-FR" dirty="0">
              <a:solidFill>
                <a:schemeClr val="bg1"/>
              </a:solidFill>
            </a:endParaRPr>
          </a:p>
        </p:txBody>
      </p:sp>
      <p:sp>
        <p:nvSpPr>
          <p:cNvPr id="2" name="Espace réservé du contenu 1">
            <a:extLst>
              <a:ext uri="{FF2B5EF4-FFF2-40B4-BE49-F238E27FC236}">
                <a16:creationId xmlns:a16="http://schemas.microsoft.com/office/drawing/2014/main" id="{7F3D6A68-315E-3B68-6E83-872621A2E8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r>
              <a:rPr lang="fr-FR" dirty="0">
                <a:solidFill>
                  <a:schemeClr val="bg1"/>
                </a:solidFill>
              </a:rPr>
              <a:t>Modèle le plus fiable : Mistral Small</a:t>
            </a:r>
          </a:p>
          <a:p>
            <a:r>
              <a:rPr lang="fr-FR" dirty="0">
                <a:solidFill>
                  <a:schemeClr val="bg1"/>
                </a:solidFill>
              </a:rPr>
              <a:t>Écarter ChatGPT : pas le bon outil</a:t>
            </a:r>
          </a:p>
          <a:p>
            <a:r>
              <a:rPr lang="fr-FR" dirty="0">
                <a:solidFill>
                  <a:schemeClr val="bg1"/>
                </a:solidFill>
              </a:rPr>
              <a:t>Solutions possibles pour la mise à l’échelle</a:t>
            </a:r>
          </a:p>
          <a:p>
            <a:pPr lvl="1">
              <a:buFont typeface="Wingdings" pitchFamily="2" charset="2"/>
              <a:buChar char="Ø"/>
            </a:pPr>
            <a:r>
              <a:rPr lang="fr-FR" dirty="0">
                <a:solidFill>
                  <a:schemeClr val="bg1"/>
                </a:solidFill>
              </a:rPr>
              <a:t>Batch par batch </a:t>
            </a:r>
            <a:r>
              <a:rPr lang="fr-FR" dirty="0">
                <a:solidFill>
                  <a:schemeClr val="bg1"/>
                </a:solidFill>
                <a:sym typeface="Wingdings" pitchFamily="2" charset="2"/>
              </a:rPr>
              <a:t> Plus long mais processus testé</a:t>
            </a:r>
          </a:p>
          <a:p>
            <a:pPr lvl="1">
              <a:buFont typeface="Wingdings" pitchFamily="2" charset="2"/>
              <a:buChar char="Ø"/>
            </a:pPr>
            <a:r>
              <a:rPr lang="fr-FR" dirty="0">
                <a:solidFill>
                  <a:schemeClr val="bg1"/>
                </a:solidFill>
                <a:sym typeface="Wingdings" pitchFamily="2" charset="2"/>
              </a:rPr>
              <a:t>Plusieurs </a:t>
            </a:r>
            <a:r>
              <a:rPr lang="fr-FR" dirty="0" err="1">
                <a:solidFill>
                  <a:schemeClr val="bg1"/>
                </a:solidFill>
                <a:sym typeface="Wingdings" pitchFamily="2" charset="2"/>
              </a:rPr>
              <a:t>batchs</a:t>
            </a:r>
            <a:r>
              <a:rPr lang="fr-FR" dirty="0">
                <a:solidFill>
                  <a:schemeClr val="bg1"/>
                </a:solidFill>
                <a:sym typeface="Wingdings" pitchFamily="2" charset="2"/>
              </a:rPr>
              <a:t> en même temps  Plus rapide en </a:t>
            </a:r>
            <a:r>
              <a:rPr lang="fr-FR">
                <a:solidFill>
                  <a:schemeClr val="bg1"/>
                </a:solidFill>
                <a:sym typeface="Wingdings" pitchFamily="2" charset="2"/>
              </a:rPr>
              <a:t>théorie </a:t>
            </a:r>
            <a:r>
              <a:rPr lang="fr-FR" b="1">
                <a:solidFill>
                  <a:schemeClr val="bg1"/>
                </a:solidFill>
                <a:sym typeface="Wingdings" pitchFamily="2" charset="2"/>
              </a:rPr>
              <a:t>MAIS</a:t>
            </a:r>
            <a:r>
              <a:rPr lang="fr-FR">
                <a:solidFill>
                  <a:schemeClr val="bg1"/>
                </a:solidFill>
                <a:sym typeface="Wingdings" pitchFamily="2" charset="2"/>
              </a:rPr>
              <a:t> </a:t>
            </a:r>
            <a:r>
              <a:rPr lang="fr-FR" dirty="0">
                <a:solidFill>
                  <a:schemeClr val="bg1"/>
                </a:solidFill>
                <a:sym typeface="Wingdings" pitchFamily="2" charset="2"/>
              </a:rPr>
              <a:t>modification des </a:t>
            </a:r>
            <a:r>
              <a:rPr lang="fr-FR">
                <a:solidFill>
                  <a:schemeClr val="bg1"/>
                </a:solidFill>
                <a:sym typeface="Wingdings" pitchFamily="2" charset="2"/>
              </a:rPr>
              <a:t>codes requise </a:t>
            </a:r>
            <a:endParaRPr lang="fr-FR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6539015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269</TotalTime>
  <Words>411</Words>
  <Application>Microsoft Macintosh PowerPoint</Application>
  <PresentationFormat>Grand écran</PresentationFormat>
  <Paragraphs>81</Paragraphs>
  <Slides>20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20</vt:i4>
      </vt:variant>
    </vt:vector>
  </HeadingPairs>
  <TitlesOfParts>
    <vt:vector size="25" baseType="lpstr">
      <vt:lpstr>Aptos</vt:lpstr>
      <vt:lpstr>Aptos Display</vt:lpstr>
      <vt:lpstr>Arial</vt:lpstr>
      <vt:lpstr>Wingdings</vt:lpstr>
      <vt:lpstr>Thème Office</vt:lpstr>
      <vt:lpstr>Quand l’Archelec rencontre l’IA</vt:lpstr>
      <vt:lpstr>Objectif</vt:lpstr>
      <vt:lpstr>Présentation PowerPoint</vt:lpstr>
      <vt:lpstr>Présentation PowerPoint</vt:lpstr>
      <vt:lpstr>Travail préliminaire</vt:lpstr>
      <vt:lpstr>Partie 1 – Extraction de textes à partir des pdfs</vt:lpstr>
      <vt:lpstr>Partie 1 – Extraction de textes à partir des pdfs</vt:lpstr>
      <vt:lpstr>Partie 1 – Extraction de textes à partir des pdfs</vt:lpstr>
      <vt:lpstr>Partie 2 – Prédiction et classification des informations par appel à un LLM</vt:lpstr>
      <vt:lpstr>Partie 2 – Prédiction et classification des informations par appel à un LLM</vt:lpstr>
      <vt:lpstr>Partie 2.2 – Test du prompt</vt:lpstr>
      <vt:lpstr>Partie 2.2 – Test du prompt</vt:lpstr>
      <vt:lpstr>Partie 2.2 – Test du prompt</vt:lpstr>
      <vt:lpstr>Partie 3 – Test final</vt:lpstr>
      <vt:lpstr>Partie 3 – Test final</vt:lpstr>
      <vt:lpstr>Partie 4 – Évaluation des résultats</vt:lpstr>
      <vt:lpstr>Partie 4 – Évaluation des résultats</vt:lpstr>
      <vt:lpstr>Partie 4 – Évaluation des résultats</vt:lpstr>
      <vt:lpstr>Partie 4.1 – La question du format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Manon Remot</dc:creator>
  <cp:lastModifiedBy>Manon Remot</cp:lastModifiedBy>
  <cp:revision>10</cp:revision>
  <dcterms:created xsi:type="dcterms:W3CDTF">2026-01-24T18:57:07Z</dcterms:created>
  <dcterms:modified xsi:type="dcterms:W3CDTF">2026-04-09T07:26:12Z</dcterms:modified>
</cp:coreProperties>
</file>